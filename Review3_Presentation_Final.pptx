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 sz="1350">
                <a:latin typeface="Arial"/>
                <a:ea typeface="Arial"/>
                <a:cs typeface="Arial"/>
              </a:rPr>
              <a:t>Classifier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Micro-F1</c:v>
          </c:tx>
          <c:spPr>
            <a:solidFill>
              <a:srgbClr val="2032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7333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TF-IDF classifier</c:v>
              </c:pt>
              <c:pt idx="1">
                <c:v>InLegalBERT</c:v>
              </c:pt>
              <c:pt idx="2">
                <c:v>Combined model</c:v>
              </c:pt>
            </c:strLit>
          </c:cat>
          <c:val>
            <c:numLit>
              <c:formatCode>0.000</c:formatCode>
              <c:ptCount val="3"/>
              <c:pt idx="0">
                <c:v>0.7</c:v>
              </c:pt>
              <c:pt idx="1">
                <c:v>0.52559999999999996</c:v>
              </c:pt>
              <c:pt idx="2">
                <c:v>0.7006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A05-45C2-9D24-0EB90AEF8EC2}"/>
            </c:ext>
          </c:extLst>
        </c:ser>
        <c:ser>
          <c:idx val="1"/>
          <c:order val="1"/>
          <c:tx>
            <c:v>Macro-F1</c:v>
          </c:tx>
          <c:spPr>
            <a:solidFill>
              <a:srgbClr val="C8664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7333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TF-IDF classifier</c:v>
              </c:pt>
              <c:pt idx="1">
                <c:v>InLegalBERT</c:v>
              </c:pt>
              <c:pt idx="2">
                <c:v>Combined model</c:v>
              </c:pt>
            </c:strLit>
          </c:cat>
          <c:val>
            <c:numLit>
              <c:formatCode>0.000</c:formatCode>
              <c:ptCount val="3"/>
              <c:pt idx="0">
                <c:v>0.58050000000000002</c:v>
              </c:pt>
              <c:pt idx="1">
                <c:v>0.45939999999999998</c:v>
              </c:pt>
              <c:pt idx="2">
                <c:v>0.58389999999999997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A05-45C2-9D24-0EB90AEF8E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5C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D8D5C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5B677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1. Team, title and review date.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1, 5 and 11. Project scope and decision-support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4. Milestone status and current implementation coverage.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5. Implemented end-to-end pipeline.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6 and 12. ASR results on 60 FLEURS Tamil clips.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7 and 12. Extraction smoke test and translation evaluation.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8 and 12. Full-corpus statute identification results.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9 and 12. Legal coverage counts.</a:t>
            </a:r>
          </a:p>
          <a:p>
            <a:r>
              <a:t>- C:\Users\rohit\fir-tn-capstone\data\statutes\mha_250884_english.pdf</a:t>
            </a:r>
          </a:p>
          <a:p>
            <a:r>
              <a:t>- C:\Users\rohit\fir-tn-capstone\data\statutes\mha_250883_english.pdf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10. Element checks and bilingual cue safeguard.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11. IF-1 instantiation, officer page and verification boundary.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12 and 14. Consolidated intermediate results and test count.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13 and 14. Testing practice, observed failures and limitations.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slides 15 and 16. Report status and planned team responsibilities.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17. Remaining work and Review 4 date.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C:\Users\rohit\fir-tn-capstone\Review3_Presentation.pptx, slide 18. Review 3 summary.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558B-08EC-4DE9-BE01-754208F9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CF470-DBBA-4B2E-8611-BF04AEF26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1051F-2EDD-4965-BBF4-23626011F0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5369B-FB3E-4899-9CB0-ED2A0A8F88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E403-D2C4-463B-8B50-E4A21FBB9A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4B7D-BD83-4BF2-8547-64A823A6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37B1E-9E4E-494D-AD73-E89BE6410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1F5CC-A72E-4A92-BC24-92A4FCB03C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1BE9-5AD4-4ACE-83A8-2F07AAF27D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AD3AC-0085-4710-BE12-398D37AD5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21E6-5081-4070-BD72-9085CABB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96BA3-F0E1-4338-97EC-E18B6C735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60F7F-2F03-4205-AFF9-CCB242C554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E5C27-77E5-4E8D-A12A-51D2104EE1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186F4-E7D6-4981-9990-AF1D10C2E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4343-2E8A-4AB2-951B-60CAC269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8D7A1-9DDB-4EF0-868E-F7BFEE2C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39355-E303-41B5-AF0B-D4732C90F5B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C99A8-2DE8-47DD-B584-D463C2C3C7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4F55D-A9B7-4D6F-AEBE-D6B5ACD1EF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B6A07-C194-4839-A441-059A0A4E5A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D35A-924E-42F5-BE71-116EA15F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7A383-0BB1-49F2-B145-50BD44099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89BA-8B88-4ECC-AB71-E09CA4DFF59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7F8E8-5024-4584-BDFD-5BCB6D1019B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71439-3898-4F36-883D-2716628DAF9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B89C4E-ED5C-498F-AF9B-E7E35545A1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901FC-1342-4EB5-BFC0-AE994C4677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4D43B-B2E1-4E80-9407-6310620640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FDB3-B5E5-4E1A-99A4-0ABAAB65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9095-610B-4EBF-8A3E-33E5DAAC84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1F3C2-2825-49A5-859A-47086D8FBD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8BFDF-D02E-4019-8984-138F225B8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6B92F-4794-4675-A47B-30766A6A83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75F45-C8CB-4459-B6BD-E8BA89575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FD011-78EF-48BC-99DF-CF6414A48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B066-8240-4F40-A04F-04FC027A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90743-4F7D-4C0F-B847-2B64B8570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98C04-B23A-4816-8E19-4D68CF2F02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9664B-12C4-4F4F-B595-8657DFACD3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33A5-1FE4-4479-A38B-095014CCE9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BEE6C-7CD6-456F-9FF9-A4ADD4D727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FE11-1392-4428-9451-5C9C686A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9004FB-CCC9-44B2-A814-0122A6403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3D2A6-7BAA-41DE-8560-16A6E0D01B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BBA43-6817-401C-B246-8A96BD5D5A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E38D7-AC04-4ACE-ABE0-8A00DC2E63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11D9F-AA6A-40AB-A90D-C147EB09C1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8312-6EB6-41A8-AE4C-FC7DFBFB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1CA00-DD80-4D18-8F24-9E251362A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05D1C-AB7B-44B0-8419-32A8391FBC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2F0C6-E268-49BC-9405-C454227765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8F0D-9F07-485E-8D8F-7409C8E09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51DD3-E51A-4AB6-8CBD-FF9F3C6C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12B3F-A81D-40EC-A38B-F69AEDB7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B5EF-63D3-49EF-8348-F171D49CD0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6600E-C5DE-46E3-BC9A-D536915C80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F61C-FB57-4A84-8588-3A8141735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87931-8399-4EEC-B15A-F5C886BF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7EFF4-2E63-4626-994F-1A21BE83B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3527B-EB6D-4288-A262-E3EDC1D028E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9/16/2026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8634-50A1-41FE-9B0E-D80274BFE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DBEDD-CFD3-46B3-8A67-275CBC35B9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35C72B-F9C2-4968-A897-AA44825EFF3C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001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34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900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Speech-Driven FIR Drafting</a:t>
            </a:r>
          </a:p>
          <a:p>
            <a:pPr algn="l">
              <a:buNone/>
              <a:defRPr sz="34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900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for Tamil Nadu Police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4C5914C-F747-4303-8BC0-0BA778159BAC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714500" cy="0"/>
          </a:xfrm>
          <a:prstGeom prst="line">
            <a:avLst/>
          </a:prstGeom>
          <a:noFill/>
          <a:ln w="38100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2844D-5534-4497-9B9C-EC4118EA27EE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C86649"/>
                </a:solidFill>
                <a:latin typeface="Arial"/>
                <a:ea typeface="Arial"/>
                <a:cs typeface="Arial"/>
              </a:rPr>
              <a:t>Review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69540B-6816-4244-B7E9-D467F32316A5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8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Implementation progress and intermediate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90122-4282-4CA3-A47C-E21BCC8E2433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51481-03D1-4F95-B518-96BD97736BBB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4286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23BAI1088  Madhav K</a:t>
            </a:r>
          </a:p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23BAI1245  Nischay </a:t>
            </a:r>
            <a:r>
              <a:rPr sz="1575" b="0" dirty="0" err="1">
                <a:solidFill>
                  <a:srgbClr val="27333D"/>
                </a:solidFill>
                <a:latin typeface="Arial"/>
                <a:ea typeface="Arial"/>
                <a:cs typeface="Arial"/>
              </a:rPr>
              <a:t>Kuchibotla</a:t>
            </a:r>
            <a:endParaRPr sz="1575" b="0" dirty="0">
              <a:solidFill>
                <a:srgbClr val="27333D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23BAI1416  Rohit A</a:t>
            </a:r>
            <a:r>
              <a:rPr lang="en-US" sz="1575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B4F15-1B90-42DE-B0CF-E817463189AE}"/>
              </a:ext>
            </a:extLst>
          </p:cNvPr>
          <p:cNvSpPr>
            <a:spLocks noGrp="1"/>
          </p:cNvSpPr>
          <p:nvPr/>
        </p:nvSpPr>
        <p:spPr>
          <a:xfrm>
            <a:off x="6667500" y="4476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77629-DCBE-4C04-BB89-6666F16E1BBB}"/>
              </a:ext>
            </a:extLst>
          </p:cNvPr>
          <p:cNvSpPr>
            <a:spLocks noGrp="1"/>
          </p:cNvSpPr>
          <p:nvPr/>
        </p:nvSpPr>
        <p:spPr>
          <a:xfrm>
            <a:off x="6667500" y="4743450"/>
            <a:ext cx="4572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Dr. Sivaranjani</a:t>
            </a:r>
          </a:p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School of Computer Science and Engineering</a:t>
            </a:r>
          </a:p>
          <a:p>
            <a:pPr algn="l">
              <a:buNone/>
              <a:defRPr sz="127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16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1033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07185E-9993-4FB4-8311-6D57082A16A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CD04434-76D4-4BF7-A3A2-8DD9FCCF384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A0C12-1C87-43CA-90E6-23C3350582A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E58414-2AF3-405D-8B59-F4054BA2AF65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12109-1AFF-4866-9D9D-1468A592DC3A}"/>
              </a:ext>
            </a:extLst>
          </p:cNvPr>
          <p:cNvSpPr>
            <a:spLocks noGrp="1"/>
          </p:cNvSpPr>
          <p:nvPr/>
        </p:nvSpPr>
        <p:spPr>
          <a:xfrm>
            <a:off x="2667000" y="140970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Spoken Tamil or Tamil-English complaint from a citizen.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D9FE752-8B84-47E7-BA0A-C77A386C66AC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3632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8A86F-0E60-49B0-AC2C-65D83A006AD0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CDB44-FF8E-4A6E-84BD-1769AF7F2B52}"/>
              </a:ext>
            </a:extLst>
          </p:cNvPr>
          <p:cNvSpPr>
            <a:spLocks noGrp="1"/>
          </p:cNvSpPr>
          <p:nvPr/>
        </p:nvSpPr>
        <p:spPr>
          <a:xfrm>
            <a:off x="2667000" y="2409825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Transcription, fact extraction, statute suggestions and cognizability support.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2B30AB1-99C5-47E0-9D92-5DCF68337709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03632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0DC33B-01E7-48AE-8FBB-5A97375C0EAA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513A16-1A5F-442B-BF97-EB639792D70E}"/>
              </a:ext>
            </a:extLst>
          </p:cNvPr>
          <p:cNvSpPr>
            <a:spLocks noGrp="1"/>
          </p:cNvSpPr>
          <p:nvPr/>
        </p:nvSpPr>
        <p:spPr>
          <a:xfrm>
            <a:off x="2667000" y="34099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 draft Tamil Nadu Police IF-1 record filled from supported facts.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CAA5173-B756-4AC9-8CF2-F2EF5E145F0A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03632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DC3383-591E-4462-8AE9-E5A4FCB1680E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91369-D409-450B-B833-35A66428D513}"/>
              </a:ext>
            </a:extLst>
          </p:cNvPr>
          <p:cNvSpPr>
            <a:spLocks noGrp="1"/>
          </p:cNvSpPr>
          <p:nvPr/>
        </p:nvSpPr>
        <p:spPr>
          <a:xfrm>
            <a:off x="2667000" y="4410075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The officer reviews every suggestion and remains the author of record.</a:t>
            </a:r>
          </a:p>
        </p:txBody>
      </p:sp>
    </p:spTree>
    <p:extLst>
      <p:ext uri="{BB962C8B-B14F-4D97-AF65-F5344CB8AC3E}">
        <p14:creationId xmlns:p14="http://schemas.microsoft.com/office/powerpoint/2010/main" val="12345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F0DF4EE-B6DA-477F-8BAC-BCDDB9EC4E5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Progress Since Review 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AAC6ED7-05A0-4563-945C-2E63BA8D8FE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F0DF2-7DAF-47D3-9134-9B09E06BF29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E00C6-AEE4-422E-8B74-2CC5663ECB6F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C96F8D1B-65BD-4998-B1F0-BD527B921246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3238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44FBAB-1B84-4BAC-83FA-06F512E2EC99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14103B-4CCE-4C81-A41B-D9D61915786D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End-to-end complaint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81F97-DD28-428B-94B9-2EC936A983E9}"/>
              </a:ext>
            </a:extLst>
          </p:cNvPr>
          <p:cNvSpPr>
            <a:spLocks noGrp="1"/>
          </p:cNvSpPr>
          <p:nvPr/>
        </p:nvSpPr>
        <p:spPr>
          <a:xfrm>
            <a:off x="666750" y="227647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1DD30E-8BDB-40CB-8AB9-753B67234268}"/>
              </a:ext>
            </a:extLst>
          </p:cNvPr>
          <p:cNvSpPr>
            <a:spLocks noGrp="1"/>
          </p:cNvSpPr>
          <p:nvPr/>
        </p:nvSpPr>
        <p:spPr>
          <a:xfrm>
            <a:off x="914400" y="2276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speech recognition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4768C-05DA-4357-AAE0-341C59C919BE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C4801D-19CB-4601-9019-DEEFD09D54B4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Structured fact extraction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AA3D9-8300-4773-9B0B-085D0F8DBCC2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1DDBA-2839-4173-819F-699B6E8BA35F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Statute identification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9C19A4-5989-4DBE-82FB-C87400952544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1F39AC-8F3F-4F0B-B43D-A07E56B141F6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IF-1 draft generation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AEA62B-B7CD-4E7D-99B7-C2998913E995}"/>
              </a:ext>
            </a:extLst>
          </p:cNvPr>
          <p:cNvSpPr>
            <a:spLocks noGrp="1"/>
          </p:cNvSpPr>
          <p:nvPr/>
        </p:nvSpPr>
        <p:spPr>
          <a:xfrm>
            <a:off x="4476750" y="128587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150D6FA-2254-48E2-8940-D9D8EC9E5AE7}"/>
              </a:ext>
            </a:extLst>
          </p:cNvPr>
          <p:cNvSpPr>
            <a:spLocks noGrp="1"/>
          </p:cNvSpPr>
          <p:nvPr/>
        </p:nvSpPr>
        <p:spPr>
          <a:xfrm>
            <a:off x="4476750" y="1638300"/>
            <a:ext cx="3238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F6749-40D5-4868-AECF-2C40D6FB5783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04A53B-9DDA-4BF4-AC19-4BFE383BD662}"/>
              </a:ext>
            </a:extLst>
          </p:cNvPr>
          <p:cNvSpPr>
            <a:spLocks noGrp="1"/>
          </p:cNvSpPr>
          <p:nvPr/>
        </p:nvSpPr>
        <p:spPr>
          <a:xfrm>
            <a:off x="4724400" y="18097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to English translation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043B9-E9B3-4537-AC4F-767C442BB9D0}"/>
              </a:ext>
            </a:extLst>
          </p:cNvPr>
          <p:cNvSpPr>
            <a:spLocks noGrp="1"/>
          </p:cNvSpPr>
          <p:nvPr/>
        </p:nvSpPr>
        <p:spPr>
          <a:xfrm>
            <a:off x="4476750" y="227647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7D2963-46DA-4191-84AC-359482113B6A}"/>
              </a:ext>
            </a:extLst>
          </p:cNvPr>
          <p:cNvSpPr>
            <a:spLocks noGrp="1"/>
          </p:cNvSpPr>
          <p:nvPr/>
        </p:nvSpPr>
        <p:spPr>
          <a:xfrm>
            <a:off x="4724400" y="2276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Element-level legal checks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0CB7E-8A8C-4C48-8A8E-4008EC058B54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932E28-CC96-409E-80CB-AFA968384221}"/>
              </a:ext>
            </a:extLst>
          </p:cNvPr>
          <p:cNvSpPr>
            <a:spLocks noGrp="1"/>
          </p:cNvSpPr>
          <p:nvPr/>
        </p:nvSpPr>
        <p:spPr>
          <a:xfrm>
            <a:off x="4724400" y="274320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Officer review screen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C5D20A-3A4C-4C19-A533-0AA2C2536CD8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EB6535-1873-47AB-B161-941D30647353}"/>
              </a:ext>
            </a:extLst>
          </p:cNvPr>
          <p:cNvSpPr>
            <a:spLocks noGrp="1"/>
          </p:cNvSpPr>
          <p:nvPr/>
        </p:nvSpPr>
        <p:spPr>
          <a:xfrm>
            <a:off x="4724400" y="320992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Audit and provenance display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41E58E-360B-49FB-83AA-A06C6DE1331D}"/>
              </a:ext>
            </a:extLst>
          </p:cNvPr>
          <p:cNvSpPr>
            <a:spLocks noGrp="1"/>
          </p:cNvSpPr>
          <p:nvPr/>
        </p:nvSpPr>
        <p:spPr>
          <a:xfrm>
            <a:off x="8286750" y="1285875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Remaining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3D1B33FD-AC12-4209-ACD6-2C9CD8888AB6}"/>
              </a:ext>
            </a:extLst>
          </p:cNvPr>
          <p:cNvSpPr>
            <a:spLocks noGrp="1"/>
          </p:cNvSpPr>
          <p:nvPr/>
        </p:nvSpPr>
        <p:spPr>
          <a:xfrm>
            <a:off x="8286750" y="1638300"/>
            <a:ext cx="3238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C64DFB-5525-4A6B-B71A-7632D4FC1993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669C16-11C8-4F0A-BFA1-EFF875A519CC}"/>
              </a:ext>
            </a:extLst>
          </p:cNvPr>
          <p:cNvSpPr>
            <a:spLocks noGrp="1"/>
          </p:cNvSpPr>
          <p:nvPr/>
        </p:nvSpPr>
        <p:spPr>
          <a:xfrm>
            <a:off x="8534400" y="18097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Names and place extraction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ECFC86-821C-460E-AAFB-7A3E9CFD5B36}"/>
              </a:ext>
            </a:extLst>
          </p:cNvPr>
          <p:cNvSpPr>
            <a:spLocks noGrp="1"/>
          </p:cNvSpPr>
          <p:nvPr/>
        </p:nvSpPr>
        <p:spPr>
          <a:xfrm>
            <a:off x="8286750" y="227647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494900-EE3E-470D-B647-B6FA0FFE3CEE}"/>
              </a:ext>
            </a:extLst>
          </p:cNvPr>
          <p:cNvSpPr>
            <a:spLocks noGrp="1"/>
          </p:cNvSpPr>
          <p:nvPr/>
        </p:nvSpPr>
        <p:spPr>
          <a:xfrm>
            <a:off x="8534400" y="2276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Stronger translation baseline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430796-EB66-4D7C-A955-C10EF3D51F95}"/>
              </a:ext>
            </a:extLst>
          </p:cNvPr>
          <p:cNvSpPr>
            <a:spLocks noGrp="1"/>
          </p:cNvSpPr>
          <p:nvPr/>
        </p:nvSpPr>
        <p:spPr>
          <a:xfrm>
            <a:off x="8286750" y="274320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F3B301-6581-4B80-AD4E-67A8FA5168EA}"/>
              </a:ext>
            </a:extLst>
          </p:cNvPr>
          <p:cNvSpPr>
            <a:spLocks noGrp="1"/>
          </p:cNvSpPr>
          <p:nvPr/>
        </p:nvSpPr>
        <p:spPr>
          <a:xfrm>
            <a:off x="8534400" y="274320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Legal review of mappings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FFB8E7-0A68-47AA-AAA9-24AC9436262A}"/>
              </a:ext>
            </a:extLst>
          </p:cNvPr>
          <p:cNvSpPr>
            <a:spLocks noGrp="1"/>
          </p:cNvSpPr>
          <p:nvPr/>
        </p:nvSpPr>
        <p:spPr>
          <a:xfrm>
            <a:off x="8286750" y="3209925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3466A8-C248-469A-985B-2AC94CCA39D2}"/>
              </a:ext>
            </a:extLst>
          </p:cNvPr>
          <p:cNvSpPr>
            <a:spLocks noGrp="1"/>
          </p:cNvSpPr>
          <p:nvPr/>
        </p:nvSpPr>
        <p:spPr>
          <a:xfrm>
            <a:off x="8534400" y="320992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Real complaint gold set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664A2F-6FF0-4D19-8BE0-2932E0696C1B}"/>
              </a:ext>
            </a:extLst>
          </p:cNvPr>
          <p:cNvSpPr>
            <a:spLocks noGrp="1"/>
          </p:cNvSpPr>
          <p:nvPr/>
        </p:nvSpPr>
        <p:spPr>
          <a:xfrm>
            <a:off x="8286750" y="3676650"/>
            <a:ext cx="19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67E89A-E4D5-40CA-B41C-2F83F27A61FD}"/>
              </a:ext>
            </a:extLst>
          </p:cNvPr>
          <p:cNvSpPr>
            <a:spLocks noGrp="1"/>
          </p:cNvSpPr>
          <p:nvPr/>
        </p:nvSpPr>
        <p:spPr>
          <a:xfrm>
            <a:off x="8534400" y="36766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Final user evaluation</a:t>
            </a:r>
          </a:p>
        </p:txBody>
      </p:sp>
    </p:spTree>
    <p:extLst>
      <p:ext uri="{BB962C8B-B14F-4D97-AF65-F5344CB8AC3E}">
        <p14:creationId xmlns:p14="http://schemas.microsoft.com/office/powerpoint/2010/main" val="143832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E0DC6C5-C701-4375-9D82-12F4B53BA0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Current Pipeline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0C0C002-EB9F-4D8F-892F-2604A969684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FC990-AF59-4768-9FE2-6F795DCE381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FF6E50-71F0-4AD9-A5DA-BEE1D5608B61}"/>
              </a:ext>
            </a:extLst>
          </p:cNvPr>
          <p:cNvSpPr>
            <a:spLocks noGrp="1"/>
          </p:cNvSpPr>
          <p:nvPr/>
        </p:nvSpPr>
        <p:spPr>
          <a:xfrm>
            <a:off x="4286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F2F1EE"/>
          </a:solidFill>
          <a:ln w="9525">
            <a:solidFill>
              <a:srgbClr val="D8D5CF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Complaint</a:t>
            </a:r>
          </a:p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audio or text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E3C515-5C71-426B-AD93-B8AB52145174}"/>
              </a:ext>
            </a:extLst>
          </p:cNvPr>
          <p:cNvSpPr>
            <a:spLocks noGrp="1"/>
          </p:cNvSpPr>
          <p:nvPr/>
        </p:nvSpPr>
        <p:spPr>
          <a:xfrm>
            <a:off x="23717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F2F1EE"/>
          </a:solidFill>
          <a:ln w="9525">
            <a:solidFill>
              <a:srgbClr val="D8D5CF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Speech</a:t>
            </a:r>
          </a:p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recognition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910C7C-9069-4B21-B1B9-7BE62362C413}"/>
              </a:ext>
            </a:extLst>
          </p:cNvPr>
          <p:cNvSpPr>
            <a:spLocks noGrp="1"/>
          </p:cNvSpPr>
          <p:nvPr/>
        </p:nvSpPr>
        <p:spPr>
          <a:xfrm>
            <a:off x="43148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F2F1EE"/>
          </a:solidFill>
          <a:ln w="9525">
            <a:solidFill>
              <a:srgbClr val="D8D5CF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Fact</a:t>
            </a:r>
          </a:p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46AC06-A0BF-4B7F-98A4-D06DF74BD77F}"/>
              </a:ext>
            </a:extLst>
          </p:cNvPr>
          <p:cNvSpPr>
            <a:spLocks noGrp="1"/>
          </p:cNvSpPr>
          <p:nvPr/>
        </p:nvSpPr>
        <p:spPr>
          <a:xfrm>
            <a:off x="62579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F2F1EE"/>
          </a:solidFill>
          <a:ln w="9525">
            <a:solidFill>
              <a:srgbClr val="D8D5CF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Statute and</a:t>
            </a:r>
          </a:p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legal checks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045CDA-99E4-40EA-A7CA-F13CE5679615}"/>
              </a:ext>
            </a:extLst>
          </p:cNvPr>
          <p:cNvSpPr>
            <a:spLocks noGrp="1"/>
          </p:cNvSpPr>
          <p:nvPr/>
        </p:nvSpPr>
        <p:spPr>
          <a:xfrm>
            <a:off x="82010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F2F1EE"/>
          </a:solidFill>
          <a:ln w="9525">
            <a:solidFill>
              <a:srgbClr val="D8D5CF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IF-1</a:t>
            </a:r>
          </a:p>
          <a:p>
            <a:pPr algn="ctr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45745D-B449-41E1-93FF-897F307AC1E1}"/>
              </a:ext>
            </a:extLst>
          </p:cNvPr>
          <p:cNvSpPr>
            <a:spLocks noGrp="1"/>
          </p:cNvSpPr>
          <p:nvPr/>
        </p:nvSpPr>
        <p:spPr>
          <a:xfrm>
            <a:off x="10144125" y="1952625"/>
            <a:ext cx="1619250" cy="1028700"/>
          </a:xfrm>
          <a:prstGeom prst="roundRect">
            <a:avLst>
              <a:gd name="adj" fmla="val 4630"/>
            </a:avLst>
          </a:prstGeom>
          <a:solidFill>
            <a:srgbClr val="20324A"/>
          </a:solidFill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Officer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45" name="Straight Arrow Connector 44"/>
          <p:cNvCxnSpPr>
            <a:stCxn id="4" idx="3"/>
            <a:endCxn id="5" idx="1"/>
          </p:cNvCxnSpPr>
          <p:nvPr/>
        </p:nvCxnSpPr>
        <p:spPr>
          <a:xfrm>
            <a:off x="2047875" y="2466975"/>
            <a:ext cx="323850" cy="0"/>
          </a:xfrm>
          <a:prstGeom prst="straightConnector1">
            <a:avLst/>
          </a:prstGeom>
          <a:ln w="19050">
            <a:solidFill>
              <a:srgbClr val="C86649"/>
            </a:solidFill>
            <a:prstDash val="solid"/>
            <a:tailEnd type="arrow" w="med" len="med"/>
          </a:ln>
        </p:spPr>
      </p:cxnSp>
      <p:cxnSp>
        <p:nvCxnSpPr>
          <p:cNvPr id="46" name="Straight Arrow Connector 45"/>
          <p:cNvCxnSpPr>
            <a:stCxn id="5" idx="3"/>
            <a:endCxn id="6" idx="1"/>
          </p:cNvCxnSpPr>
          <p:nvPr/>
        </p:nvCxnSpPr>
        <p:spPr>
          <a:xfrm>
            <a:off x="3990975" y="2466975"/>
            <a:ext cx="323850" cy="0"/>
          </a:xfrm>
          <a:prstGeom prst="straightConnector1">
            <a:avLst/>
          </a:prstGeom>
          <a:ln w="19050">
            <a:solidFill>
              <a:srgbClr val="C86649"/>
            </a:solidFill>
            <a:prstDash val="solid"/>
            <a:tailEnd type="arrow" w="med" len="med"/>
          </a:ln>
        </p:spPr>
      </p:cxnSp>
      <p:cxnSp>
        <p:nvCxnSpPr>
          <p:cNvPr id="47" name="Straight Arrow Connector 46"/>
          <p:cNvCxnSpPr>
            <a:stCxn id="6" idx="3"/>
            <a:endCxn id="7" idx="1"/>
          </p:cNvCxnSpPr>
          <p:nvPr/>
        </p:nvCxnSpPr>
        <p:spPr>
          <a:xfrm>
            <a:off x="5934075" y="2466975"/>
            <a:ext cx="323850" cy="0"/>
          </a:xfrm>
          <a:prstGeom prst="straightConnector1">
            <a:avLst/>
          </a:prstGeom>
          <a:ln w="19050">
            <a:solidFill>
              <a:srgbClr val="C86649"/>
            </a:solidFill>
            <a:prstDash val="solid"/>
            <a:tailEnd type="arrow" w="med" len="med"/>
          </a:ln>
        </p:spPr>
      </p:cxnSp>
      <p:cxnSp>
        <p:nvCxnSpPr>
          <p:cNvPr id="48" name="Straight Arrow Connector 47"/>
          <p:cNvCxnSpPr>
            <a:stCxn id="7" idx="3"/>
            <a:endCxn id="8" idx="1"/>
          </p:cNvCxnSpPr>
          <p:nvPr/>
        </p:nvCxnSpPr>
        <p:spPr>
          <a:xfrm>
            <a:off x="7877175" y="2466975"/>
            <a:ext cx="323850" cy="0"/>
          </a:xfrm>
          <a:prstGeom prst="straightConnector1">
            <a:avLst/>
          </a:prstGeom>
          <a:ln w="19050">
            <a:solidFill>
              <a:srgbClr val="C86649"/>
            </a:solidFill>
            <a:prstDash val="solid"/>
            <a:tailEnd type="arrow" w="med" len="med"/>
          </a:ln>
        </p:spPr>
      </p:cxnSp>
      <p:cxnSp>
        <p:nvCxnSpPr>
          <p:cNvPr id="49" name="Straight Arrow Connector 48"/>
          <p:cNvCxnSpPr>
            <a:stCxn id="8" idx="3"/>
            <a:endCxn id="9" idx="1"/>
          </p:cNvCxnSpPr>
          <p:nvPr/>
        </p:nvCxnSpPr>
        <p:spPr>
          <a:xfrm>
            <a:off x="9820275" y="2466975"/>
            <a:ext cx="323850" cy="0"/>
          </a:xfrm>
          <a:prstGeom prst="straightConnector1">
            <a:avLst/>
          </a:prstGeom>
          <a:ln w="19050">
            <a:solidFill>
              <a:srgbClr val="C86649"/>
            </a:solidFill>
            <a:prstDash val="solid"/>
            <a:tailEnd type="arrow" w="med" len="med"/>
          </a:ln>
        </p:spPr>
      </p:cxn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1445CA1-AFA9-423E-B4C6-38E0B84BF8C5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9906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3B94CA-79E3-4CC5-BF5F-001F40AC91AB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Current 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E798F-21A3-4CED-B91E-75B850558099}"/>
              </a:ext>
            </a:extLst>
          </p:cNvPr>
          <p:cNvSpPr>
            <a:spLocks noGrp="1"/>
          </p:cNvSpPr>
          <p:nvPr/>
        </p:nvSpPr>
        <p:spPr>
          <a:xfrm>
            <a:off x="1143000" y="43434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Typed complaint or local audio recording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2EE29F-5D67-487F-BC83-D23970AEFF83}"/>
              </a:ext>
            </a:extLst>
          </p:cNvPr>
          <p:cNvSpPr>
            <a:spLocks noGrp="1"/>
          </p:cNvSpPr>
          <p:nvPr/>
        </p:nvSpPr>
        <p:spPr>
          <a:xfrm>
            <a:off x="4762500" y="4000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Current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806FE-2BD5-43F4-9EF6-404257B264BB}"/>
              </a:ext>
            </a:extLst>
          </p:cNvPr>
          <p:cNvSpPr>
            <a:spLocks noGrp="1"/>
          </p:cNvSpPr>
          <p:nvPr/>
        </p:nvSpPr>
        <p:spPr>
          <a:xfrm>
            <a:off x="4762500" y="434340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Draft IF-1 with suggested sections, evidence and warnings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91FDC8-E57F-4DA1-B81A-B3FBAA067E24}"/>
              </a:ext>
            </a:extLst>
          </p:cNvPr>
          <p:cNvSpPr>
            <a:spLocks noGrp="1"/>
          </p:cNvSpPr>
          <p:nvPr/>
        </p:nvSpPr>
        <p:spPr>
          <a:xfrm>
            <a:off x="8572500" y="4000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CFE83-1D58-41E1-BE2C-81B899C7755D}"/>
              </a:ext>
            </a:extLst>
          </p:cNvPr>
          <p:cNvSpPr>
            <a:spLocks noGrp="1"/>
          </p:cNvSpPr>
          <p:nvPr/>
        </p:nvSpPr>
        <p:spPr>
          <a:xfrm>
            <a:off x="8572500" y="43434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No automatic verification or filing</a:t>
            </a:r>
          </a:p>
        </p:txBody>
      </p:sp>
    </p:spTree>
    <p:extLst>
      <p:ext uri="{BB962C8B-B14F-4D97-AF65-F5344CB8AC3E}">
        <p14:creationId xmlns:p14="http://schemas.microsoft.com/office/powerpoint/2010/main" val="1636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9F8673-7E0D-4353-9751-9D138D3228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Speech Recognition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164717E-63B2-47A4-ABD0-9C92BCE317B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893AFB-DB6F-4EBE-935F-1F67626E5C1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E956F-63A9-4323-995A-0BC5E158D757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DF5684-C4A4-42F0-9A7A-8A07D851426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9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58165-A055-45E8-AA85-7C65C4065207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speech transcription on local hardware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F26D07-C828-4CC2-87AF-29B2AE994D20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19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39E22-B6A0-41D0-A54F-DC3FC922F0D6}"/>
              </a:ext>
            </a:extLst>
          </p:cNvPr>
          <p:cNvSpPr>
            <a:spLocks noGrp="1"/>
          </p:cNvSpPr>
          <p:nvPr/>
        </p:nvSpPr>
        <p:spPr>
          <a:xfrm>
            <a:off x="914400" y="2428875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Quality checks for repeated or invalid transcripts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284D0-2716-4D18-90EE-F987F82CBF48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9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5EA6CA-0699-4AD7-A2D7-C97A0F73F6D4}"/>
              </a:ext>
            </a:extLst>
          </p:cNvPr>
          <p:cNvSpPr>
            <a:spLocks noGrp="1"/>
          </p:cNvSpPr>
          <p:nvPr/>
        </p:nvSpPr>
        <p:spPr>
          <a:xfrm>
            <a:off x="914400" y="3095625"/>
            <a:ext cx="451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spoken numbers, dates, times and amounts converted to digits</a:t>
            </a:r>
          </a:p>
        </p:txBody>
      </p:sp>
      <p:graphicFrame>
        <p:nvGraphicFramePr>
          <p:cNvPr id="25" name="Table 24"/>
          <p:cNvGraphicFramePr/>
          <p:nvPr/>
        </p:nvGraphicFramePr>
        <p:xfrm>
          <a:off x="5619750" y="1333500"/>
          <a:ext cx="5429250" cy="3190875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Earlier setting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setting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Word error rate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57.2%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51.4%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Lower is better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Character error rate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22.4%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15.0%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More informative for Tamil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Processing time ratio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1.81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0.46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Faster than real time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Flagged clips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2 of 60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2 of 60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Guard retained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8AB00DD-2731-4CE2-97BA-F808A205EAE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Fact Extraction and Translation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EB647EC-4464-4E62-884B-895D5714C6E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24475F-6403-4D60-A61A-7D93A8BB3A0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F70DCE-AFA7-4EFF-9DA0-38FB8DB82BC5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Fact extraction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10A6976-0FE5-41F3-84BF-845CDF9BAB86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85775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BCAF4-7643-4D9C-8E8C-938D20DF42EE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95865-8DEF-44ED-A071-5E121E3EAD56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610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Extracts dates, times, rupee amounts, phone numbers and vehicle numbers.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B9862-5B98-46B0-87CC-18CC68ED1317}"/>
              </a:ext>
            </a:extLst>
          </p:cNvPr>
          <p:cNvSpPr>
            <a:spLocks noGrp="1"/>
          </p:cNvSpPr>
          <p:nvPr/>
        </p:nvSpPr>
        <p:spPr>
          <a:xfrm>
            <a:off x="666750" y="2409825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787CD3-032E-4CA1-B511-80EFC64D6589}"/>
              </a:ext>
            </a:extLst>
          </p:cNvPr>
          <p:cNvSpPr>
            <a:spLocks noGrp="1"/>
          </p:cNvSpPr>
          <p:nvPr/>
        </p:nvSpPr>
        <p:spPr>
          <a:xfrm>
            <a:off x="914400" y="2409825"/>
            <a:ext cx="4610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Fills a field only when the value is unambiguous.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55CA4-9CDD-413D-B86B-017C5C0020B3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39DA0-796B-40D3-A1C6-0257647866E0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4610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Records the source text for every extracted value.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31B58-73D0-4915-8CFD-BCD2E8087030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685F46-7500-4480-9A0A-609FFAFD8873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4610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Smoke test: 63 of 63 fields found across 28 test complaints with no false positives.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119F56-7A94-4E72-BAB2-4422A2FD72B5}"/>
              </a:ext>
            </a:extLst>
          </p:cNvPr>
          <p:cNvSpPr>
            <a:spLocks noGrp="1"/>
          </p:cNvSpPr>
          <p:nvPr/>
        </p:nvSpPr>
        <p:spPr>
          <a:xfrm>
            <a:off x="6381750" y="128587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Tamil to English translation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E9FBE54-44BD-4EB0-8563-119BCAA38AC7}"/>
              </a:ext>
            </a:extLst>
          </p:cNvPr>
          <p:cNvSpPr>
            <a:spLocks noGrp="1"/>
          </p:cNvSpPr>
          <p:nvPr/>
        </p:nvSpPr>
        <p:spPr>
          <a:xfrm>
            <a:off x="6381750" y="1638300"/>
            <a:ext cx="4953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B5142-2ADC-41CE-9793-02BC27FF96FF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EBD39D-16CE-4238-BA68-A8FE67F5EFEE}"/>
              </a:ext>
            </a:extLst>
          </p:cNvPr>
          <p:cNvSpPr>
            <a:spLocks noGrp="1"/>
          </p:cNvSpPr>
          <p:nvPr/>
        </p:nvSpPr>
        <p:spPr>
          <a:xfrm>
            <a:off x="6629400" y="1809750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Used only for the current English statute classifier.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76C774-58C5-4FB6-AF3B-425CA163A6FE}"/>
              </a:ext>
            </a:extLst>
          </p:cNvPr>
          <p:cNvSpPr>
            <a:spLocks noGrp="1"/>
          </p:cNvSpPr>
          <p:nvPr/>
        </p:nvSpPr>
        <p:spPr>
          <a:xfrm>
            <a:off x="6381750" y="2409825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162022-3A70-49D3-888A-137E3A531CC9}"/>
              </a:ext>
            </a:extLst>
          </p:cNvPr>
          <p:cNvSpPr>
            <a:spLocks noGrp="1"/>
          </p:cNvSpPr>
          <p:nvPr/>
        </p:nvSpPr>
        <p:spPr>
          <a:xfrm>
            <a:off x="6629400" y="240982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Current result: chrF 35.2 and BLEU 10.5 on 336 sentence pairs.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893B2D-821F-4836-808A-38A7AF27F36E}"/>
              </a:ext>
            </a:extLst>
          </p:cNvPr>
          <p:cNvSpPr>
            <a:spLocks noGrp="1"/>
          </p:cNvSpPr>
          <p:nvPr/>
        </p:nvSpPr>
        <p:spPr>
          <a:xfrm>
            <a:off x="6381750" y="3009900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38139-CE94-4AD1-9488-BC8B33601106}"/>
              </a:ext>
            </a:extLst>
          </p:cNvPr>
          <p:cNvSpPr>
            <a:spLocks noGrp="1"/>
          </p:cNvSpPr>
          <p:nvPr/>
        </p:nvSpPr>
        <p:spPr>
          <a:xfrm>
            <a:off x="6629400" y="3009900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The original Tamil remains available for extraction and legal evidence.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88ABE0-61C8-4F39-B216-0202E746981E}"/>
              </a:ext>
            </a:extLst>
          </p:cNvPr>
          <p:cNvSpPr>
            <a:spLocks noGrp="1"/>
          </p:cNvSpPr>
          <p:nvPr/>
        </p:nvSpPr>
        <p:spPr>
          <a:xfrm>
            <a:off x="6381750" y="3609975"/>
            <a:ext cx="19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3BDDD-D5AA-4B97-9D11-DD6C6A0F2B03}"/>
              </a:ext>
            </a:extLst>
          </p:cNvPr>
          <p:cNvSpPr>
            <a:spLocks noGrp="1"/>
          </p:cNvSpPr>
          <p:nvPr/>
        </p:nvSpPr>
        <p:spPr>
          <a:xfrm>
            <a:off x="6629400" y="3609975"/>
            <a:ext cx="4705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 bilingual cue check sends uncertain legal cases to the officer.</a:t>
            </a:r>
          </a:p>
        </p:txBody>
      </p:sp>
    </p:spTree>
    <p:extLst>
      <p:ext uri="{BB962C8B-B14F-4D97-AF65-F5344CB8AC3E}">
        <p14:creationId xmlns:p14="http://schemas.microsoft.com/office/powerpoint/2010/main" val="1636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7FA82B-C8E9-4090-BEE7-BCB428954F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Statute Identification Results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6CE4010-3084-4CC2-B98E-BB9970A5D78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65C47-99CC-4F3D-9BC2-79E41A05F1C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476250" y="1285875"/>
          <a:ext cx="7143750" cy="4238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5B68B49-C203-4E26-AD39-BEE23439DDF7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Evaluation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C67C6-CB05-4207-84B6-7E83362540D8}"/>
              </a:ext>
            </a:extLst>
          </p:cNvPr>
          <p:cNvSpPr>
            <a:spLocks noGrp="1"/>
          </p:cNvSpPr>
          <p:nvPr/>
        </p:nvSpPr>
        <p:spPr>
          <a:xfrm>
            <a:off x="8096250" y="188595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13,039 Indian court documents</a:t>
            </a:r>
          </a:p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100 IPC section labels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193A2-453C-435B-81C8-51EF8EF8341B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Current decision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312E54-DAE4-46D4-A9E6-F092400471D3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2952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Use the TF-IDF classifier. The neural model did not improve the final score.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65CE7-FF31-4AFC-9F29-4F1A9C4BD905}"/>
              </a:ext>
            </a:extLst>
          </p:cNvPr>
          <p:cNvSpPr>
            <a:spLocks noGrp="1"/>
          </p:cNvSpPr>
          <p:nvPr/>
        </p:nvSpPr>
        <p:spPr>
          <a:xfrm>
            <a:off x="8096250" y="4552950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combined model improved micro-F1 by only 0.0006.</a:t>
            </a:r>
          </a:p>
        </p:txBody>
      </p:sp>
    </p:spTree>
    <p:extLst>
      <p:ext uri="{BB962C8B-B14F-4D97-AF65-F5344CB8AC3E}">
        <p14:creationId xmlns:p14="http://schemas.microsoft.com/office/powerpoint/2010/main" val="112984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677F32-2D7F-4442-B9B8-3096AB6C4F0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Legal Knowledge and Routing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26958E9-D321-4919-9335-DEC40057A2F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A5C91-6E46-40C8-92A0-D7139BF09C5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579069295"/>
              </p:ext>
            </p:extLst>
          </p:nvPr>
        </p:nvGraphicFramePr>
        <p:xfrm>
          <a:off x="523875" y="1285874"/>
          <a:ext cx="10668000" cy="4796268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9067">
                <a:tc>
                  <a:txBody>
                    <a:bodyPr/>
                    <a:lstStyle/>
                    <a:p>
                      <a:r>
                        <a:rPr sz="13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coverage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rule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067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BNS text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358 sections from the official notification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Show the section text with each suggestion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067"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BNSS First Schedule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438 section keys: 277 cognizable, 135 non-cognizable, 26 conditional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Conditional cases remain with the officer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067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IPC to BNS mapping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100 IPC labels: 69 direct, 29 require review, 7 outside BNS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Apply only high-confidence mappings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18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C6DFC4E-41D5-40E3-A604-3CC040AA4B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Legal Justification and Safeguards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20F9A26-EAD5-40BD-91AE-A357DF26A2C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47F16-C8E9-403B-B514-06B24F9121A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C094B-A554-4A6D-9B4B-CEE43A53BA82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What the officer sees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50545092-5472-4D03-A250-C40B7299B3CE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762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8371D-054D-4586-BCC1-9263C5573060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08C050-3091-45B7-A84A-43EA23D57C45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51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Candidate BNS section and its official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6DFC68-195B-43E6-8FD4-DC34C7CDF348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89AB-EE23-406F-8434-52CD1AE14C75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451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Required offence ingredients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A70BC8-F049-45A4-8AA3-03BB01512FA9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C85ED-20A0-48F3-A715-6DA9FB11792F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451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Complaint words supporting each ingredient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A095B-1B13-47F7-BE9F-40E99D9E2CE5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4BB75D-6393-450F-BEB6-80F6FB4F7CAF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451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 dirty="0">
                <a:solidFill>
                  <a:srgbClr val="27333D"/>
                </a:solidFill>
                <a:latin typeface="Arial"/>
                <a:ea typeface="Arial"/>
                <a:cs typeface="Arial"/>
              </a:rPr>
              <a:t>Unresolved ingredients marked as unclear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0F9968-D590-4961-9B4A-13E659857F09}"/>
              </a:ext>
            </a:extLst>
          </p:cNvPr>
          <p:cNvSpPr>
            <a:spLocks noGrp="1"/>
          </p:cNvSpPr>
          <p:nvPr/>
        </p:nvSpPr>
        <p:spPr>
          <a:xfrm>
            <a:off x="6381750" y="128587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 dirty="0">
                <a:solidFill>
                  <a:srgbClr val="20324A"/>
                </a:solidFill>
                <a:latin typeface="Arial"/>
                <a:ea typeface="Arial"/>
                <a:cs typeface="Arial"/>
              </a:rPr>
              <a:t>Safety </a:t>
            </a:r>
            <a:r>
              <a:rPr sz="1688" b="1" dirty="0" err="1">
                <a:solidFill>
                  <a:srgbClr val="20324A"/>
                </a:solidFill>
                <a:latin typeface="Arial"/>
                <a:ea typeface="Arial"/>
                <a:cs typeface="Arial"/>
              </a:rPr>
              <a:t>behaviour</a:t>
            </a:r>
            <a:endParaRPr sz="1688" b="1" dirty="0">
              <a:solidFill>
                <a:srgbClr val="2032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A0F0A71-5B0B-4F02-BB64-4B46105E1D09}"/>
              </a:ext>
            </a:extLst>
          </p:cNvPr>
          <p:cNvSpPr>
            <a:spLocks noGrp="1"/>
          </p:cNvSpPr>
          <p:nvPr/>
        </p:nvSpPr>
        <p:spPr>
          <a:xfrm>
            <a:off x="6381750" y="1638300"/>
            <a:ext cx="4953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146EA6-2CAF-4FB3-BF6E-3D967EB28A38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8B0BB-DB8B-44F4-965D-8486E1050377}"/>
              </a:ext>
            </a:extLst>
          </p:cNvPr>
          <p:cNvSpPr>
            <a:spLocks noGrp="1"/>
          </p:cNvSpPr>
          <p:nvPr/>
        </p:nvSpPr>
        <p:spPr>
          <a:xfrm>
            <a:off x="6629400" y="1809750"/>
            <a:ext cx="4705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8119" lnSpcReduction="10000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The system does not treat missing words as proof that an element is absent.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6D5A1-F031-4BDA-9752-C343816D6E93}"/>
              </a:ext>
            </a:extLst>
          </p:cNvPr>
          <p:cNvSpPr>
            <a:spLocks noGrp="1"/>
          </p:cNvSpPr>
          <p:nvPr/>
        </p:nvSpPr>
        <p:spPr>
          <a:xfrm>
            <a:off x="6381750" y="24384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4DC417-1E6D-470C-A189-11329043B131}"/>
              </a:ext>
            </a:extLst>
          </p:cNvPr>
          <p:cNvSpPr>
            <a:spLocks noGrp="1"/>
          </p:cNvSpPr>
          <p:nvPr/>
        </p:nvSpPr>
        <p:spPr>
          <a:xfrm>
            <a:off x="6629400" y="2438400"/>
            <a:ext cx="4705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8119" lnSpcReduction="10000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and English cues are checked against the original complaint.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AF256-833E-4271-95B0-DE230062AAE7}"/>
              </a:ext>
            </a:extLst>
          </p:cNvPr>
          <p:cNvSpPr>
            <a:spLocks noGrp="1"/>
          </p:cNvSpPr>
          <p:nvPr/>
        </p:nvSpPr>
        <p:spPr>
          <a:xfrm>
            <a:off x="6381750" y="30670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9DC15-B1B8-48B2-8168-A51941ACA6F8}"/>
              </a:ext>
            </a:extLst>
          </p:cNvPr>
          <p:cNvSpPr>
            <a:spLocks noGrp="1"/>
          </p:cNvSpPr>
          <p:nvPr/>
        </p:nvSpPr>
        <p:spPr>
          <a:xfrm>
            <a:off x="6629400" y="3067050"/>
            <a:ext cx="4705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8119" lnSpcReduction="10000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 missed cognizable or conditional section sends the case to officer review.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FAB5D0-8A3B-4506-9096-412464AD0877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9D5FA-A67C-42DD-9313-1F3574C49CC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05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8119" lnSpcReduction="10000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Legal suggestions always remain editable and advisory.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A389A3-0BBE-42CF-A595-1F1DB66A6821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668000" cy="495300"/>
          </a:xfrm>
          <a:prstGeom prst="roundRect">
            <a:avLst>
              <a:gd name="adj" fmla="val 7692"/>
            </a:avLst>
          </a:prstGeom>
          <a:solidFill>
            <a:srgbClr val="20324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429A2D-17FD-4DAC-A0CB-2B7A974B4ACF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222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element checks cover 29 commonly encountered sections.</a:t>
            </a:r>
          </a:p>
        </p:txBody>
      </p:sp>
    </p:spTree>
    <p:extLst>
      <p:ext uri="{BB962C8B-B14F-4D97-AF65-F5344CB8AC3E}">
        <p14:creationId xmlns:p14="http://schemas.microsoft.com/office/powerpoint/2010/main" val="2067657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87BA020-11E6-475C-BDFD-E78530FB9C7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FIR Draft and Officer Review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8F02F39-7743-430A-AA09-46E43146615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0A087-F285-4D5D-87E2-640E0D385BE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B1E68-72F6-4BDF-A08D-016473AE47B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A6551-70FE-4ADB-BCF4-10724DAD3474}"/>
              </a:ext>
            </a:extLst>
          </p:cNvPr>
          <p:cNvSpPr>
            <a:spLocks noGrp="1"/>
          </p:cNvSpPr>
          <p:nvPr/>
        </p:nvSpPr>
        <p:spPr>
          <a:xfrm>
            <a:off x="1381125" y="13811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1126"/>
          </a:bodyPr>
          <a:lstStyle/>
          <a:p>
            <a:pPr algn="l">
              <a:buNone/>
              <a:defRPr sz="15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Review complaint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4F013-30A8-4267-959E-199CF396F683}"/>
              </a:ext>
            </a:extLst>
          </p:cNvPr>
          <p:cNvSpPr>
            <a:spLocks noGrp="1"/>
          </p:cNvSpPr>
          <p:nvPr/>
        </p:nvSpPr>
        <p:spPr>
          <a:xfrm>
            <a:off x="4429125" y="1362075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Transcript and extracted facts remain visible.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F74BDB9-7952-455B-AAEB-C42456D70B40}"/>
              </a:ext>
            </a:extLst>
          </p:cNvPr>
          <p:cNvSpPr>
            <a:spLocks noGrp="1"/>
          </p:cNvSpPr>
          <p:nvPr/>
        </p:nvSpPr>
        <p:spPr>
          <a:xfrm>
            <a:off x="1381125" y="2009775"/>
            <a:ext cx="9715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AD78D6-1010-4C06-A2FF-FEA66439C214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37331-AE89-438A-95C4-F10D02D8875A}"/>
              </a:ext>
            </a:extLst>
          </p:cNvPr>
          <p:cNvSpPr>
            <a:spLocks noGrp="1"/>
          </p:cNvSpPr>
          <p:nvPr/>
        </p:nvSpPr>
        <p:spPr>
          <a:xfrm>
            <a:off x="1381125" y="23145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158"/>
          </a:bodyPr>
          <a:lstStyle/>
          <a:p>
            <a:pPr algn="l">
              <a:buNone/>
              <a:defRPr sz="15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Review legal suggestions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EC53A-EC77-45F7-9597-B2B38D92D145}"/>
              </a:ext>
            </a:extLst>
          </p:cNvPr>
          <p:cNvSpPr>
            <a:spLocks noGrp="1"/>
          </p:cNvSpPr>
          <p:nvPr/>
        </p:nvSpPr>
        <p:spPr>
          <a:xfrm>
            <a:off x="4429125" y="2295525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Each section includes evidence and unresolved questions.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0267320-100B-45F8-8005-620879E663AE}"/>
              </a:ext>
            </a:extLst>
          </p:cNvPr>
          <p:cNvSpPr>
            <a:spLocks noGrp="1"/>
          </p:cNvSpPr>
          <p:nvPr/>
        </p:nvSpPr>
        <p:spPr>
          <a:xfrm>
            <a:off x="1381125" y="2943225"/>
            <a:ext cx="9715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99A37-828B-4137-BDA7-4C95D05FD51F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2623D7-A36A-44CF-A751-F88B463722AF}"/>
              </a:ext>
            </a:extLst>
          </p:cNvPr>
          <p:cNvSpPr>
            <a:spLocks noGrp="1"/>
          </p:cNvSpPr>
          <p:nvPr/>
        </p:nvSpPr>
        <p:spPr>
          <a:xfrm>
            <a:off x="1381125" y="32480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Review IF-1 fields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BF696-0029-40F4-AC26-A84893ED65AF}"/>
              </a:ext>
            </a:extLst>
          </p:cNvPr>
          <p:cNvSpPr>
            <a:spLocks noGrp="1"/>
          </p:cNvSpPr>
          <p:nvPr/>
        </p:nvSpPr>
        <p:spPr>
          <a:xfrm>
            <a:off x="4429125" y="3228975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Only supported values enter the fixed 15-item form.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BCFCC8EB-A29C-49E9-9120-33D8604818F9}"/>
              </a:ext>
            </a:extLst>
          </p:cNvPr>
          <p:cNvSpPr>
            <a:spLocks noGrp="1"/>
          </p:cNvSpPr>
          <p:nvPr/>
        </p:nvSpPr>
        <p:spPr>
          <a:xfrm>
            <a:off x="1381125" y="3876675"/>
            <a:ext cx="97155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8C8B5F-BD3A-42FD-88AD-B4F0186906BF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5D4295-B5E8-4750-B5A6-7A8C992EB713}"/>
              </a:ext>
            </a:extLst>
          </p:cNvPr>
          <p:cNvSpPr>
            <a:spLocks noGrp="1"/>
          </p:cNvSpPr>
          <p:nvPr/>
        </p:nvSpPr>
        <p:spPr>
          <a:xfrm>
            <a:off x="1381125" y="418147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7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Edit or reject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C7A7F0-9E78-4120-A855-0BFFB6CEC22E}"/>
              </a:ext>
            </a:extLst>
          </p:cNvPr>
          <p:cNvSpPr>
            <a:spLocks noGrp="1"/>
          </p:cNvSpPr>
          <p:nvPr/>
        </p:nvSpPr>
        <p:spPr>
          <a:xfrm>
            <a:off x="4429125" y="4162425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The officer decides the final content and official route.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B73393-E8C5-42A0-86E0-AC777B842153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668000" cy="552450"/>
          </a:xfrm>
          <a:prstGeom prst="roundRect">
            <a:avLst>
              <a:gd name="adj" fmla="val 6897"/>
            </a:avLst>
          </a:prstGeom>
          <a:solidFill>
            <a:srgbClr val="F2F1E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5D03A9-1F97-4BC4-B56E-C78F25F0119F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No component can mark a draft as verified or submit it to the police system.</a:t>
            </a:r>
          </a:p>
        </p:txBody>
      </p:sp>
    </p:spTree>
    <p:extLst>
      <p:ext uri="{BB962C8B-B14F-4D97-AF65-F5344CB8AC3E}">
        <p14:creationId xmlns:p14="http://schemas.microsoft.com/office/powerpoint/2010/main" val="133906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FF87C8-1E55-48E5-B031-7F9F946CD5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Intermediate Results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D1AD5C4-DF27-4580-B7F3-0F5E611274F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5A82D-DACD-4A94-BD1B-6110435C1DCB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2536530490"/>
              </p:ext>
            </p:extLst>
          </p:nvPr>
        </p:nvGraphicFramePr>
        <p:xfrm>
          <a:off x="428625" y="1190625"/>
          <a:ext cx="11153775" cy="4429124"/>
        </p:xfrm>
        <a:graphic>
          <a:graphicData uri="http://schemas.openxmlformats.org/drawingml/2006/table">
            <a:tbl>
              <a:tblPr/>
              <a:tblGrid>
                <a:gridCol w="3414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5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3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732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data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result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Speech recognition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60 Tamil clips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WER 51.4%, CER 15.0%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Translation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336 sentence pairs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chrF</a:t>
                      </a:r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 35.2, BLEU 10.5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Fact extraction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28 complaint examples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63 of 63 fields, 0 false positives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Statute identification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13,039 test documents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Micro-F1 0.700, macro-F1 0.581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IPC to BNS mapping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100 IPC labels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69 direct, 29 review, 7 outside BNS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73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Automated tests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18 test files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376 tests passing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22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95F836A-68B9-44D2-811A-D976570CF9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Testing and Current Limitations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BC2BA5C-F893-4FA6-AA0C-AB9617DA329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6CFFF-881F-4F43-8C15-D3630889B4DF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138367-1E3E-4DF0-9A2A-D90F2909D78B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Testing completed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763B3DA-C499-4466-A7F1-E0332AB007D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85775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1DAC9-7B19-447E-B0AA-F148D92CA906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72343A-A526-4921-9479-C79385C0C59A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4610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End-to-end fixtures for typed and audio complaints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C69D0-9BA4-49FF-8E6F-261D8313E86E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A99296-A786-4670-AF1B-ABA9662B4765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4610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Checks for schema consistency and fixed-form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08107-13C8-424D-9DE8-4890B9AA2124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97CF22-9B13-489B-996A-103C1934D8E2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4610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Tests for Tamil number normalization and transcript warnings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64EFC-84C1-47A7-A6B8-40EE8164EA61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19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C306B7-D141-4698-BF6C-41519DD87B6A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4610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Legal routing rules tested for unknown and conditional cases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BF678F-3076-4DB5-936F-ED6FA09B59E0}"/>
              </a:ext>
            </a:extLst>
          </p:cNvPr>
          <p:cNvSpPr>
            <a:spLocks noGrp="1"/>
          </p:cNvSpPr>
          <p:nvPr/>
        </p:nvSpPr>
        <p:spPr>
          <a:xfrm>
            <a:off x="6381750" y="128587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F039878-386D-45D3-8B3C-0441B670F78A}"/>
              </a:ext>
            </a:extLst>
          </p:cNvPr>
          <p:cNvSpPr>
            <a:spLocks noGrp="1"/>
          </p:cNvSpPr>
          <p:nvPr/>
        </p:nvSpPr>
        <p:spPr>
          <a:xfrm>
            <a:off x="6381750" y="1638300"/>
            <a:ext cx="4953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D65CB4-2FA6-4BB9-8BA9-E0B7C20FE2D2}"/>
              </a:ext>
            </a:extLst>
          </p:cNvPr>
          <p:cNvSpPr>
            <a:spLocks noGrp="1"/>
          </p:cNvSpPr>
          <p:nvPr/>
        </p:nvSpPr>
        <p:spPr>
          <a:xfrm>
            <a:off x="6381750" y="1809750"/>
            <a:ext cx="19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49B4C4-1C68-44F3-B5FB-EA9E5CAF1C7B}"/>
              </a:ext>
            </a:extLst>
          </p:cNvPr>
          <p:cNvSpPr>
            <a:spLocks noGrp="1"/>
          </p:cNvSpPr>
          <p:nvPr/>
        </p:nvSpPr>
        <p:spPr>
          <a:xfrm>
            <a:off x="6629400" y="1809750"/>
            <a:ext cx="4705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6045"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Speech error rate remains high on unseen Tamil audio.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3E2F8-446F-4C1A-9188-F2761BD1CB9A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9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A3DB4C-C18E-41C4-9489-8AB0533B8A6D}"/>
              </a:ext>
            </a:extLst>
          </p:cNvPr>
          <p:cNvSpPr>
            <a:spLocks noGrp="1"/>
          </p:cNvSpPr>
          <p:nvPr/>
        </p:nvSpPr>
        <p:spPr>
          <a:xfrm>
            <a:off x="6629400" y="2362200"/>
            <a:ext cx="4705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Translation remains an interim component.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C99967-C238-4C0E-B96F-15B3119F2CCF}"/>
              </a:ext>
            </a:extLst>
          </p:cNvPr>
          <p:cNvSpPr>
            <a:spLocks noGrp="1"/>
          </p:cNvSpPr>
          <p:nvPr/>
        </p:nvSpPr>
        <p:spPr>
          <a:xfrm>
            <a:off x="6381750" y="2914650"/>
            <a:ext cx="19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230F74-955F-40B9-8E26-81AE9374B4BC}"/>
              </a:ext>
            </a:extLst>
          </p:cNvPr>
          <p:cNvSpPr>
            <a:spLocks noGrp="1"/>
          </p:cNvSpPr>
          <p:nvPr/>
        </p:nvSpPr>
        <p:spPr>
          <a:xfrm>
            <a:off x="6629400" y="2914650"/>
            <a:ext cx="4705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Extraction does not yet cover names and locations.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B7E9D8-E4B7-4B5E-B83A-A8F76985615A}"/>
              </a:ext>
            </a:extLst>
          </p:cNvPr>
          <p:cNvSpPr>
            <a:spLocks noGrp="1"/>
          </p:cNvSpPr>
          <p:nvPr/>
        </p:nvSpPr>
        <p:spPr>
          <a:xfrm>
            <a:off x="6381750" y="3467100"/>
            <a:ext cx="19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608063-BE24-4683-9405-3054F72AA651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4705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3254" lnSpcReduction="10000"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Legal tables and mappings need complete expert review.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1249C-49D0-4F32-9C33-8C28F1C336C7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190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CBBAE0-4CEA-4FBF-9D31-9F5044385AD8}"/>
              </a:ext>
            </a:extLst>
          </p:cNvPr>
          <p:cNvSpPr>
            <a:spLocks noGrp="1"/>
          </p:cNvSpPr>
          <p:nvPr/>
        </p:nvSpPr>
        <p:spPr>
          <a:xfrm>
            <a:off x="6629400" y="4019550"/>
            <a:ext cx="47053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631" lnSpcReduction="10000"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Evaluation on real complaint recordings has not started.</a:t>
            </a:r>
          </a:p>
        </p:txBody>
      </p:sp>
    </p:spTree>
    <p:extLst>
      <p:ext uri="{BB962C8B-B14F-4D97-AF65-F5344CB8AC3E}">
        <p14:creationId xmlns:p14="http://schemas.microsoft.com/office/powerpoint/2010/main" val="110041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0AA868-8829-431B-A774-6D9A9FCD1DB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Report Progress and Team Responsibilities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B23A60F-0E98-45C2-875A-8F7105CA303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31BA8-5DB6-4D8C-92C5-D50B3A4C07A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EA4FB-E478-4A44-BB85-EDA1764E2D75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Report progress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13546-D510-404F-8A9F-8B0CADE5465D}"/>
              </a:ext>
            </a:extLst>
          </p:cNvPr>
          <p:cNvSpPr>
            <a:spLocks noGrp="1"/>
          </p:cNvSpPr>
          <p:nvPr/>
        </p:nvSpPr>
        <p:spPr>
          <a:xfrm>
            <a:off x="2952750" y="1162050"/>
            <a:ext cx="819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Introduction, literature review and methodology are updated. The implementation and results chapter has an initial draft. The conclusion and final evaluation remain.</a:t>
            </a:r>
          </a:p>
        </p:txBody>
      </p:sp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3677540822"/>
              </p:ext>
            </p:extLst>
          </p:nvPr>
        </p:nvGraphicFramePr>
        <p:xfrm>
          <a:off x="952500" y="2190750"/>
          <a:ext cx="9906000" cy="2762252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</a:t>
                      </a:r>
                      <a:endParaRPr sz="1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responsibility</a:t>
                      </a:r>
                    </a:p>
                  </a:txBody>
                  <a:tcPr marL="76200" marR="76200" marT="47625" marB="47625" anchor="ctr">
                    <a:solidFill>
                      <a:srgbClr val="20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Madhav 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Statute identification, IPC to BNS mapping, legal routing and IF-1 integration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lang="en-US" sz="135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Rohit A S</a:t>
                      </a:r>
                      <a:endParaRPr sz="1350" b="0" dirty="0">
                        <a:solidFill>
                          <a:srgbClr val="2733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Speech recognition, transcript quality checks and Tamil normalization</a:t>
                      </a:r>
                    </a:p>
                  </a:txBody>
                  <a:tcPr marL="76200" marR="76200" marT="47625" marB="47625" anchor="ctr">
                    <a:solidFill>
                      <a:srgbClr val="F2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marL="0" marR="0" lvl="0" indent="0" algn="l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5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Nischay </a:t>
                      </a:r>
                      <a:r>
                        <a:rPr lang="en-IN" sz="1350" b="0" dirty="0" err="1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Kuchibotla</a:t>
                      </a:r>
                      <a:endParaRPr lang="en-IN" sz="1350" b="0" dirty="0">
                        <a:solidFill>
                          <a:srgbClr val="27333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>
                          <a:solidFill>
                            <a:srgbClr val="27333D"/>
                          </a:solidFill>
                          <a:latin typeface="Arial"/>
                          <a:ea typeface="Arial"/>
                          <a:cs typeface="Arial"/>
                        </a:rPr>
                        <a:t>Fact extraction, data preparation and named-entity extraction groundwork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81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9B66C53-14BE-4B72-808D-01CCCA9DA5E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Remaining Work and Timeline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00C1B83-7462-4744-A53B-639FF7E620B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EF90E-C5BD-4CA7-9B25-04CF005185D1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A744A-7F11-445D-9192-151240EB7C76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16 to 30 September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03D78-A2A8-4737-8FD3-4E6B42F9199B}"/>
              </a:ext>
            </a:extLst>
          </p:cNvPr>
          <p:cNvSpPr>
            <a:spLocks noGrp="1"/>
          </p:cNvSpPr>
          <p:nvPr/>
        </p:nvSpPr>
        <p:spPr>
          <a:xfrm>
            <a:off x="3524250" y="1409700"/>
            <a:ext cx="752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Improve translation and compare Tamil speech baselines. Add extraction for names and locations.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CBBDD79-23D4-425C-B90B-D3E30DAAABE0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752475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035B2-498F-4FB0-B7FC-B29A234A03F9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1 to 8 October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2AB71-D6D1-404E-9AFE-0226FC48B6C8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752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Complete element verification, review legal mappings and prepare a small Tamil complaint gold set.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26D86FD-CD8B-4836-8D45-B0E4F3909E92}"/>
              </a:ext>
            </a:extLst>
          </p:cNvPr>
          <p:cNvSpPr>
            <a:spLocks noGrp="1"/>
          </p:cNvSpPr>
          <p:nvPr/>
        </p:nvSpPr>
        <p:spPr>
          <a:xfrm>
            <a:off x="3524250" y="3486150"/>
            <a:ext cx="752475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947B9-B468-4EE5-82D8-14A5316051A5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9 October to Review 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880284-F01E-402E-98E3-7A03989652A2}"/>
              </a:ext>
            </a:extLst>
          </p:cNvPr>
          <p:cNvSpPr>
            <a:spLocks noGrp="1"/>
          </p:cNvSpPr>
          <p:nvPr/>
        </p:nvSpPr>
        <p:spPr>
          <a:xfrm>
            <a:off x="3524250" y="3848100"/>
            <a:ext cx="752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Run end-to-end evaluation, complete the report, rehearse the demonstration and prepare publication evidence.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108B9-A9FF-4826-969D-2A54E77343FA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998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4 is planned for 12 to 16 October 2026.</a:t>
            </a:r>
          </a:p>
        </p:txBody>
      </p:sp>
    </p:spTree>
    <p:extLst>
      <p:ext uri="{BB962C8B-B14F-4D97-AF65-F5344CB8AC3E}">
        <p14:creationId xmlns:p14="http://schemas.microsoft.com/office/powerpoint/2010/main" val="789650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E4675CD-36A8-48CD-AFE8-11B9932667E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55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E897D55-9259-48D0-8C01-98FD0EBBA23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104900" cy="0"/>
          </a:xfrm>
          <a:prstGeom prst="line">
            <a:avLst/>
          </a:prstGeom>
          <a:noFill/>
          <a:ln w="28575">
            <a:solidFill>
              <a:srgbClr val="C866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EE539-FB45-4672-BD57-BA69ED2EFC1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238"/>
          </a:bodyPr>
          <a:lstStyle/>
          <a:p>
            <a:pPr algn="r">
              <a:buNone/>
              <a:defRPr sz="9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50F38-73D8-43BF-ACF8-8431CE26ACB3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Working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FBFEF4-DD03-46E9-BAE0-38D02D104039}"/>
              </a:ext>
            </a:extLst>
          </p:cNvPr>
          <p:cNvSpPr>
            <a:spLocks noGrp="1"/>
          </p:cNvSpPr>
          <p:nvPr/>
        </p:nvSpPr>
        <p:spPr>
          <a:xfrm>
            <a:off x="3048000" y="12573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Audio or text input now produces a draft IF-1 through one integrated pipeline.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AA72F12-4E82-4204-9AD5-717A42F2DB24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8001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103830-D845-4D29-A582-2572F15BC0BD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1985"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Measured progress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C9B1-FF67-42D5-BE93-6ED477852AB7}"/>
              </a:ext>
            </a:extLst>
          </p:cNvPr>
          <p:cNvSpPr>
            <a:spLocks noGrp="1"/>
          </p:cNvSpPr>
          <p:nvPr/>
        </p:nvSpPr>
        <p:spPr>
          <a:xfrm>
            <a:off x="3048000" y="2105025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203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Statute identification reached 0.700 micro-F1. The extraction smoke test found all 63 fields without false positives.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C1F6F17-C0CA-4416-8B20-35CC1484FBE2}"/>
              </a:ext>
            </a:extLst>
          </p:cNvPr>
          <p:cNvSpPr>
            <a:spLocks noGrp="1"/>
          </p:cNvSpPr>
          <p:nvPr/>
        </p:nvSpPr>
        <p:spPr>
          <a:xfrm>
            <a:off x="3048000" y="2733675"/>
            <a:ext cx="8001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143A17-9C2C-47E5-B1A3-647B1794EDAE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Known limitation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74F1C-1F49-4DC9-994A-C3A2F3FCACF8}"/>
              </a:ext>
            </a:extLst>
          </p:cNvPr>
          <p:cNvSpPr>
            <a:spLocks noGrp="1"/>
          </p:cNvSpPr>
          <p:nvPr/>
        </p:nvSpPr>
        <p:spPr>
          <a:xfrm>
            <a:off x="3048000" y="295275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Tamil speech and translation quality still constrain the complete pipeline.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53BC8A7-DA11-4EA1-9637-553AAEF4D471}"/>
              </a:ext>
            </a:extLst>
          </p:cNvPr>
          <p:cNvSpPr>
            <a:spLocks noGrp="1"/>
          </p:cNvSpPr>
          <p:nvPr/>
        </p:nvSpPr>
        <p:spPr>
          <a:xfrm>
            <a:off x="3048000" y="3581400"/>
            <a:ext cx="8001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20D764-244C-4CD4-BEEA-07755DFE754D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Safety position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01152-DF0A-4D38-BFF0-51D49D41883A}"/>
              </a:ext>
            </a:extLst>
          </p:cNvPr>
          <p:cNvSpPr>
            <a:spLocks noGrp="1"/>
          </p:cNvSpPr>
          <p:nvPr/>
        </p:nvSpPr>
        <p:spPr>
          <a:xfrm>
            <a:off x="3048000" y="3800475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203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The officer reviews the evidence, legal suggestions and final form. The system cannot file or verify an FIR.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AF30895-9354-4F5D-95D7-0D38DEAAFC4F}"/>
              </a:ext>
            </a:extLst>
          </p:cNvPr>
          <p:cNvSpPr>
            <a:spLocks noGrp="1"/>
          </p:cNvSpPr>
          <p:nvPr/>
        </p:nvSpPr>
        <p:spPr>
          <a:xfrm>
            <a:off x="3048000" y="4429125"/>
            <a:ext cx="8001000" cy="0"/>
          </a:xfrm>
          <a:prstGeom prst="line">
            <a:avLst/>
          </a:prstGeom>
          <a:noFill/>
          <a:ln w="9525">
            <a:solidFill>
              <a:srgbClr val="D8D5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0533E4-BCF2-436C-9244-4C0E5FBCDE16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20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24A"/>
                </a:solidFill>
                <a:latin typeface="Arial"/>
                <a:ea typeface="Arial"/>
                <a:cs typeface="Arial"/>
              </a:rPr>
              <a:t>Next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08F096-112C-4129-AFCF-E93CB201E5F6}"/>
              </a:ext>
            </a:extLst>
          </p:cNvPr>
          <p:cNvSpPr>
            <a:spLocks noGrp="1"/>
          </p:cNvSpPr>
          <p:nvPr/>
        </p:nvSpPr>
        <p:spPr>
          <a:xfrm>
            <a:off x="3048000" y="46482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203"/>
          </a:bodyPr>
          <a:lstStyle/>
          <a:p>
            <a:pPr algn="l">
              <a:buNone/>
              <a:defRPr sz="1425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Complete missing language components, legal validation and real complaint evaluation.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939492-1F04-444C-9EFC-55C2551CFC7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650" b="1">
                <a:solidFill>
                  <a:srgbClr val="C8664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6649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126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1594</Words>
  <Application>Microsoft Office PowerPoint</Application>
  <DocSecurity>0</DocSecurity>
  <PresentationFormat>Widescreen</PresentationFormat>
  <Paragraphs>309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Rohit A S</cp:lastModifiedBy>
  <cp:revision>1</cp:revision>
  <dcterms:created xsi:type="dcterms:W3CDTF">2026-09-16T06:15:17Z</dcterms:created>
  <dcterms:modified xsi:type="dcterms:W3CDTF">2026-09-16T06:23:38Z</dcterms:modified>
</cp:coreProperties>
</file>