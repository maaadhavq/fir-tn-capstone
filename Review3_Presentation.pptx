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244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"/>
            <a:ext cx="1091153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B.TECH PROJECT — I     |     REVIEW 3     |     VIT CHENNAI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400" b="1">
                <a:solidFill>
                  <a:srgbClr val="24405B"/>
                </a:solidFill>
                <a:latin typeface="Calibri"/>
              </a:rPr>
              <a:t>Speech-Driven Drafting of First Information Reports for the Tamil Nadu Police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5B6470"/>
                </a:solidFill>
                <a:latin typeface="Calibri"/>
              </a:rPr>
              <a:t>Implementation progress and interim results: one LangGraph pipeline from a spoken Tamil complaint to a draft IF-1, with the officer as author of record.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886200"/>
            <a:ext cx="1097280" cy="36576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4405B"/>
                </a:solidFill>
                <a:latin typeface="Calibri"/>
              </a:rPr>
              <a:t>Team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23BAI1088   Madhav K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23BAI1245   Nischay Kuchibotla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23BAI1416   Rohit A. 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114800"/>
            <a:ext cx="4114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24405B"/>
                </a:solidFill>
                <a:latin typeface="Calibri"/>
              </a:rPr>
              <a:t>Guide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Dr. Shivaranjani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School of Computer Science and Engineering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16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Review 3 rubric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BCSE497J Review 3 — 7 parameters, 20 marks. Where each is answered in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987552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4206240"/>
                <a:gridCol w="640080"/>
                <a:gridCol w="1005840"/>
                <a:gridCol w="365760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Evaluation parameter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Marks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Follow-up on Review 2 feedback; progress vs approved plan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3, 4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action table; 27-milestone status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Implementation and functional progress (~50% of scope)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5–11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end-to-end pipeline, live demo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Technical accuracy and best practices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368 tests, pinned invariants, gazette-cited tables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Interim testing, results and analysis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8, 9, 12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F1 / WER-CER / chrF / P-R tables and figures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Problem-solving and technical refinement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9 findings, each with the corrective action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Progress of the project report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Chapters 1–3 revised, Chapter 4 drafted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Presentation, individual responsibility, Q&amp;A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16, 18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contribution table, demo, questions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Follow-up on Review 2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1 mark: action taken on panel comments. 2 marks: progress against the approved plan (next slide).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54480"/>
          <a:ext cx="987552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4114800"/>
                <a:gridCol w="182880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Review 2 comment / suggestion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Action taken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«Panel comment 1 — copy from the Review 2 evaluation sheet»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«what was done»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«slide / section»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«Panel comment 2»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«what was done»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«slide / section»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«Panel comment 3»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«what was done»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A37"/>
                          </a:solidFill>
                          <a:latin typeface="Calibri"/>
                        </a:rPr>
                        <a:t>«slide / section»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063240"/>
            <a:ext cx="10911535" cy="25146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9525">
            <a:solidFill>
              <a:srgbClr val="C9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3154680"/>
            <a:ext cx="105823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4405B"/>
                </a:solidFill>
                <a:latin typeface="Calibri"/>
              </a:rPr>
              <a:t>Decisions changed since Review 2 — and 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1054577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–  Compute: the dev machine has an 8 GB GPU, not the 16 GB assumed — the plan's 14B synthetic-data model does not fit; the 7B / 14B-with-offload decision is measured, not assumed (finding 1).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–  Statute classifier: InLegalBERT was to be the classifier; on ILSI a TF-IDF baseline beats it by 0.17 micro-F1 and an ensemble adds +0.0006 — TF-IDF is the classifier, the encoder's job becomes element verification (finding 8).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–  Cognizability: the planned First Schedule table was a hand-coded stub; it is now parsed from the gazette PDF with page citations, and the stub turned out wrong on 4 of 48 entries (finding 9).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–  A Tamil→English translation node was added — the classifier is English-only — and its first real failure (“dowry” → “relief”) produced the cue-scan safety net (finding 5c).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Progress against the approved plan (PLAN.md, 27 milestones)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10 working · 11 partial / v0 · 6 not started. Everything green or amber runs inside one end-to-end graph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pic>
        <p:nvPicPr>
          <p:cNvPr id="7" name="Picture 6" descr="r3_milest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687658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155448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24405B"/>
                </a:solidFill>
                <a:latin typeface="Calibri"/>
              </a:rPr>
              <a:t>Semester-1 target (PLAN §2):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–  “a thin end-to-end vertical slice on synthetic data”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4405B"/>
                </a:solidFill>
                <a:latin typeface="Calibri"/>
              </a:rPr>
              <a:t>Status: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–  the slice is not thin any more — ASR → extraction → translation → statute-ID → IPC→BNS → cognizability → elements → IF-1 → form → officer page run as one LangGraph graph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24405B"/>
                </a:solidFill>
                <a:latin typeface="Calibri"/>
              </a:rPr>
              <a:t>Deliberately not started: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–  LLM-based modules (P2.2, P3.3-LLM, P4.2-LLM, P6.2) wait on the 8 GB model decision; PDF form and audit log are semester-2 items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What runs end to end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One graph: (audio→asr) → extract → translate → statute_id → ipc_bns → cognizability_check → instantiate. ~10,400 lines; text or audio in, IF-1 draft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pic>
        <p:nvPicPr>
          <p:cNvPr id="7" name="Picture 6" descr="r3_pipeline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10911535" cy="34516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846320"/>
            <a:ext cx="1091153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–  Decision support by construction: no endpoint, CLI or graph node can set a record to “verified”; the form prints “DRAFT — the officer is the author of record”; every machine-filled slot carries provenance (character offsets into the transcript).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A37"/>
                </a:solidFill>
                <a:latin typeface="Calibri"/>
              </a:rPr>
              <a:t>–  Strict local-only: models from a local HF cache; the API binds 127.0.0.1; audio uploads are deleted after transcription.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Stage A — Speech and ASR: baseline, guards, normalisation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faster-whisper large-v3 (CTranslate2) on the 8 GB GPU; FLEURS ta_in as the zero-shot yardstick.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4405B"/>
                </a:solidFill>
                <a:latin typeface="Calibri"/>
              </a:rPr>
              <a:t>Built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–  Zero-shot baseline on 60 clips: WER 57.2% → 51.4%, CER 22.4% → 15.0% after this week's decoding fix; Tamil is agglutinative, so CER is reported alongside WER (finding 6c)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–  Hallucination guards: duplicated-trigram fraction (replay loops) and foreign-script count (language drift); thresholds calibrated on the real baseline — clean clips score exactly 0%; a flagged transcript blocks auto-resolution (finding 6b)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–  Tamil inverse text normalisation: 206-form number lexicon with sandhi, spoken dates/times/amounts → digits, offset map back to the audio transcript (69 tests)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4405B"/>
                </a:solidFill>
                <a:latin typeface="Calibri"/>
              </a:rPr>
              <a:t>Fixed this week (finding 6f)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–  The library's temperature-fallback ladder re-decoded low-confidence Tamil windows up to six times. One pass at T=0 + batched VAD chunks: on 60 clips RTF 1.81 → 0.46 and WER/CER improved, not traded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–  On a complaint-length recording: RTF 0.31 → 0.10, WER 81% → 49% (chunks follow pauses, not fixed 30 s cuts)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–  Honest caveat: 2 of 60 clips still trip the repetition guard at T=0 — the ladder was the speed cost, not the cause of the replay loop; the guard stays</a:t>
            </a:r>
          </a:p>
        </p:txBody>
      </p:sp>
      <p:pic>
        <p:nvPicPr>
          <p:cNvPr id="8" name="Picture 7" descr="r3_as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5349240" cy="2452822"/>
          </a:xfrm>
          <a:prstGeom prst="rect">
            <a:avLst/>
          </a:prstGeom>
        </p:spPr>
      </p:pic>
      <p:pic>
        <p:nvPicPr>
          <p:cNvPr id="9" name="Picture 8" descr="r3_asr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886200"/>
            <a:ext cx="5349240" cy="22558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Stage B — Extraction floor, and the Tamil→English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Rules with provenance now; NER / LLM extraction is the semester-2 upgrade. The classifier is English-only, so Tamil input is translated for it — and only for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029200" cy="356616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9525">
            <a:solidFill>
              <a:srgbClr val="C9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54480"/>
            <a:ext cx="4700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4405B"/>
                </a:solidFill>
                <a:latin typeface="Calibri"/>
              </a:rPr>
              <a:t>Rule extractor (Stage B floor)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Slots: dates (digit, spoken, year-less), times, ₹ amounts (digit and spoken, Indian grouping), phone numbers, vehicle plates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Fills a slot only when unambiguous; several candidates → blank + officer note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Gold smoke set: 28 adversarial complaints, 63/63 slots, 0 false positives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Every value carries character offsets — the form can point back at the words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B6470"/>
                </a:solidFill>
                <a:latin typeface="Calibri"/>
              </a:rPr>
              <a:t>–  Limit: names, places and accused descriptions are not extracted yet — that is what the synthetic-data + NER phase is for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1463040"/>
            <a:ext cx="5074920" cy="356616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9525">
            <a:solidFill>
              <a:srgbClr val="C9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1554480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4405B"/>
                </a:solidFill>
                <a:latin typeface="Calibri"/>
              </a:rPr>
              <a:t>Translation node (finding 5b / 5c)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Interim model opus-mt-dra-en: chrF 35.2, BLEU 10.5 on FLoRes ta→en; IndicTrans2 (~+20 chrF) is gated behind a licence click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Output feeds the classifier only; extraction, elements and the narrative keep the original Tamil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B4423B"/>
                </a:solidFill>
                <a:latin typeface="Calibri"/>
              </a:rPr>
              <a:t>–  First real failure: “வரதட்சணை” (dowry) → “relief”; the classifier saw a threat, and a 498A complaint routed to CSR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Fix: a bilingual element cue-scan on the ORIGINAL text; a cognizable section whose ingredients are all present but unpredicted forces officer review, naming the section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Pinned by tests that reproduce the exact failure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Stage C — Statute identification: the encoder question is settled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ILSI: 42,835 training / 13,039 test court documents, 100 IPC sections, multi-label. Threshold tuned on dev.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pic>
        <p:nvPicPr>
          <p:cNvPr id="7" name="Picture 6" descr="r3_statute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17320"/>
            <a:ext cx="6949440" cy="33655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1554480"/>
            <a:ext cx="3154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Result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TF-IDF + one-vs-rest logistic: micro-F1 0.700, macro-F1 0.581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InLegalBERT with every lever (4 epochs, head LR×10, head+tail truncation, pos-weight): 0.526 / 0.459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Ensemble gain over the best single model: +0.0006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Ruled out as causes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truncation to 512 wordpieces (costs TF-IDF only 8.6% relative); head collapse (fixed with pos-weight, finding 7); too little data (full corpus used)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Decision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TF-IDF is the classifier; the encoder's job is element verification. Keep the sparse floor in every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Stage C — The legal knowledge base is now the gazette, not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IPC→BNS map with a legal-safety invariant; BNSS First Schedule and all 358 BNS section texts parsed from the official gazette PDFs with page citations.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pic>
        <p:nvPicPr>
          <p:cNvPr id="7" name="Picture 6" descr="r3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7223760" cy="272788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0" y="150876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4405B"/>
                </a:solidFill>
                <a:latin typeface="Calibri"/>
              </a:rPr>
              <a:t>IPC→BNS map (100 ILSI sections)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–  69 auto-applicable · 29 flagged for review · 7 map outside the BNS. Invariant, pinned by tests: only confidence = high AND needs_review = N AND a real BNS target is applied without a human.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4405B"/>
                </a:solidFill>
                <a:latin typeface="Calibri"/>
              </a:rPr>
              <a:t>BNSS First Schedule, Part 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–  438 section keys: 277 cognizable, 135 non-cognizable, 26 conditional (abetment follows the offence; s.85 depends on who reports; s.303(2) theft splits at ₹5,000 — resolved from the extracted value)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24405B"/>
                </a:solidFill>
                <a:latin typeface="Calibri"/>
              </a:rPr>
              <a:t>BNS 2023 text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–  358 sections with headings, chapters and illustration-free operative text; shown beside every suggestion, IPC text kept as lineage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B6470"/>
                </a:solidFill>
                <a:latin typeface="Calibri"/>
              </a:rPr>
              <a:t>–  Status: parsed and spot-checked, not legally signed off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Stage C — Element-wise justification (v0) and the cue-scan safety net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A section is not one thing. The officer sees which ingredients the facts show, quoted from the transcript — and which are still to be established.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5669280" cy="3749039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9525">
            <a:solidFill>
              <a:srgbClr val="C9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554480"/>
            <a:ext cx="5340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4405B"/>
                </a:solidFill>
                <a:latin typeface="Calibri"/>
              </a:rPr>
              <a:t>Output on the form (IPC 304B → BNS 80, dowry-death sample)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[?] death of a woman — not stated in the narrative; establish: is the deceased a woman?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[x] by burns, bodily injury, or otherwise than in normal circumstances · 'murder'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[x] within seven years of marriage · 'married five years ago'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A37"/>
                </a:solidFill>
                <a:latin typeface="Calibri"/>
              </a:rPr>
              <a:t>[x] cruelty or harassment for dowry, soon before death · 'cruelty'; 'demand'; 'dowry'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Two rules keep it honest: never “no” (absence of a word is not evidence of absence — it yields “unclear”, the officer's cue to ask), and every “yes” carries the matched words and offsets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29 sections covered with English + Tamil cues (theft, robbery, hurt, kidnapping, cheating incl. OTP fraud, cruelty, dowry death, trespass …); a 22-complaint battery pins what must and must not fire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463040"/>
            <a:ext cx="4434840" cy="3749039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9525">
            <a:solidFill>
              <a:srgbClr val="C9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554480"/>
            <a:ext cx="41056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4405B"/>
                </a:solidFill>
                <a:latin typeface="Calibri"/>
              </a:rPr>
              <a:t>Why it doubles as a safety 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874519"/>
            <a:ext cx="4069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The classifier reads an English view of the complaint; the cues read the original Tamil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A covered section whose every ingredient is present but which the classifier did not predict is raised as a question — never auto-applied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If that section is cognizable or conditional and the route would otherwise be CSR, the case goes to the officer with the section named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B6470"/>
                </a:solidFill>
                <a:latin typeface="Calibri"/>
              </a:rPr>
              <a:t>–  Next (PLAN P3.3): replace keyword cues with a local LLM reading each element's BNS text against the complaint — same schema, same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Stages D and E — IF-1 record, grounded narrative, form, officer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Deterministic slot-filling into the fixed CCTNS IF-1; the only free text is the narrative box, and every sentence in it must trace to an extracted 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Stage D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Pydantic record = the canonical IF-1 JSON Schema (parity tests fail on any drift); status draft → csr_advisory → verified, and nothing in src/ can write “verified”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Decision → record bridge: auto-applied sections become BNS candidates with IPC lineage; held-back mappings are kept, flagged ambiguous, score-capped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Narrative composer: one sentence per grounded fact, Tamil + English, faithfulness gate = every sentence supported (structural v0; NLI/LLM judge later)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Renderer: the 15-item form, machine-filled slots annotated ⟨status · confidence · source⟩, items 13–15 always blank (they are the officer's)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Stage E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FastAPI on 127.0.0.1: /v1/complaint/{text,audio}, /v1/statute/{section}, /v1/health; a static officer page: route, sections with BNS text and element checks, “also consider”, flags, annotated form; “Mark verified” disabled by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4892040" cy="36576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9525">
            <a:solidFill>
              <a:srgbClr val="C9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554480"/>
            <a:ext cx="4562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4405B"/>
                </a:solidFill>
                <a:latin typeface="Calibri"/>
              </a:rPr>
              <a:t>Live demo (5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4526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1  Typed theft complaint with a value → FIR route, BNS 303(2) with the ₹5,000 proviso shown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2  Same complaint without the value → officer review: “cognizability depends on property value”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3  Tamil dowry-cruelty complaint → translation loses “dowry”; the cue scan still raises IPC 498A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4  Look up BNS 85 → gazette text + the Schedule's condition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5  Spoken Tamil clip → transcript with ITN, guards, then the same path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B6470"/>
                </a:solidFill>
                <a:latin typeface="Calibri"/>
              </a:rPr>
              <a:t>–  Fallback if the GPU is busy: `python -m fir draft --json` on the CLI, same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Interim results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All numbers are read from artifacts/reports/*.json by the build script; RESULTS.md is regenerated by `make results`.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987552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011680"/>
                <a:gridCol w="1737360"/>
                <a:gridCol w="2377440"/>
                <a:gridCol w="13716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Read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Statute-ID (TF-IDF)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ILSI test, 13,039 docs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micro / macro-F1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0.700 / 0.581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the classifier of record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Statute-ID (InLegalBERT, best)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micro / macro-F1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0.526 / 0.459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loses to the sparse floor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ASR before (fallback ladder)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FLEURS ta_in, 60 clips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WER / CER / RTF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57.2% / 22.4% / 1.81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 clips flagged by the guard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ASR now (T=0, batched)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WER / CER / RTF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51.4% / 15.0% / 0.46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 flagged: replay loop persists at T=0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ASR (T=0, sequential)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WER / CER / RTF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53.5% / 15.8% / 0.51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 flagged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ASR, complaint-length recording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8 clips joined, 148 s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RTF / WER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0.10 / 49% (batched) vs 0.31 / 81% (sequential)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batching is also more accurate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Translation ta→en (opus-mt)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FLoRes devtest, 336 pairs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chrF / BLEU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35.2 / 10.5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upper bound on Tamil statute-ID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Extraction (rules)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28 gold complaints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slot P / R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1.00 / 1.00 (63 slots, 0 FP)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smoke set, not a benchmark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IPC→BNS map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100 ILSI sections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auto / review / non-BNS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69 / 29 / 7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third-party source; gazette check pending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BNSS First Schedule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438 keys from gazette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cog / non-cog / conditional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277 / 135 / 26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stub was wrong on 4/48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Test suite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17 files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tests passing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368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no model weights needed, ~20 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Technical challenges and corrective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Each finding is recorded in PROGRESS.md with the measurement that established it and the test that keeps it fixed.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  <a:gridCol w="3840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Challenge (finding)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Corrective action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GPU is 8 GB, not 16 GB (1)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torch reports 8.5 GB; 14B-Q4 ≈ 9 GB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models.yaml carries a fits flag per model; 7B vs 14B-with-offload to be benchmarked on mains power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WSL VM rebooted under full-corpus jobs (6e)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6 deaths; predictor = Python heap &gt; ~2 GB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chunked vectoriser / tokenizer / predict; detached launches; logs on /mnt/c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InLegalBERT head collapsed to 6/100 labels (7)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loss flat at 0.142, macro-F1 0.018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pos-weighted BCE, higher head LR; then measured honestly against TF-IDF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Whisper fabricated text on 2/60 clips (6b)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replay loop 226% WER; Cyrillic drift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transcript guards calibrated on the baseline; flagged → not auto-resolvable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ASR 3× slower than real time (6f)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profile: fallback ladder 3.06 vs 0.57 RTF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one pass at T=0; batched VAD chunks; 60-clip WER 57→51%, CER 22→15%, RTF 1.81→0.46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Translation lost “dowry” → CSR route (5c)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reproduced on the real server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bilingual cue scan on the original; forces officer review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Cognizability stub wrong on 4/48 (9)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gazette parse vs stub: 126, 223, 296, 329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parse the First Schedule with page citations; conditional class; value-resolved theft split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Classifier abstains on short complaints (5)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top-5 for a theft sample has no 379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A37"/>
                          </a:solidFill>
                          <a:latin typeface="Calibri"/>
                        </a:rPr>
                        <a:t>not a threshold problem — in-domain synthetic data; cue scan carries short inputs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Technical accuracy and engineering practice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What a reviewer can check without trusting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Testing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368 tests in 17 files, ~20 s, no weights: golden end-to-end fixtures, schema parity, ITN, cue battery, Schedule integrity, serving, CLI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Legal invariants are tests: the IPC→BNS auto-apply rule, “unknown never defaults”, “nothing can set verified”, threat ≠ attempt/murder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ruff clean; LF-only repo; reproducible builds: `make schedule`, `make bns-text`, `make results`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Evaluation practice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Sparse baseline kept in every comparison; thresholds tuned on dev, reported on test; CER beside WER for Tamil; per-clip distributions, not just corpus means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Negative results recorded: encoder &lt; TF-IDF; ensemble +0.0006; condition_on_previous_text did not fix replay; int8 vs fp16 WER gap was fallback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463040"/>
            <a:ext cx="4983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Provenance and safety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Every extracted value: character offsets; every element “yes”: quoted words; every Schedule row: gazette page; every model: local cache path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Decision support only — route and sections are proposals; the officer is the author of record; CSR is advisory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Local-only inference; no hosted API anywhere in the code; PII-minimal (audio deleted after transcription)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Best-practice choices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CTranslate2 int8 for VRAM headroom; LangGraph for an inspectable state machine; Pydantic ↔ JSON Schema parity; config-driven (pipeline.yaml, models.yaml, datasets.yaml)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Honest limits stated on the form: “stub”/“parsed, not signed off”/“interim model” wherever true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Project report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Review3_Report.docx: Chapters 1–3 carried forward with a revisions section; Chapter 4 drafted from the same JSON reports as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98755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6126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Chapter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Contents at Review 3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Preliminary pages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updated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abstract with a Review-3 status paragraph; rubric map for Review 3; TOC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1 Introduction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background, problem, objectives, scope, expected outcomes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2 Literature / patent review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16 sources; comparative analysis; gap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3 Methodology / design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revised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§3.8 Revisions since Review 2: compute budget, classifier choice, translation node, gazette-parsed KB, team allocation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4 Implementation and results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new (initial)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environment; implementation by stage; testing &amp; validation; interim results (6 tables, 5 figures); analysis; limitations; individual contribution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5 Conclusion and future work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outline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to be written for Review 4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References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extended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gazette notifications, faster-whisper / CTranslate2, opus-mt, sacreBLEU added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80060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0"/>
                </a:solidFill>
                <a:latin typeface="Calibri"/>
              </a:rPr>
              <a:t>AI-tool acknowledgement (guideline §2): an AI coding assistant (Claude Code) was used for implementation support under the team's direction; all design decisions, legal tables and results were reviewed and are reproducible from the repository. «confirm wording with the guide»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Individual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«Confirm before the review — the panel grades each member's demonstrated contribution (guideline §2).»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291840"/>
                <a:gridCol w="2743200"/>
                <a:gridCol w="173736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Member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Ownership (as planned at Review 2)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Delivered at Review 3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Demonstrates</a:t>
                      </a:r>
                    </a:p>
                  </a:txBody>
                  <a:tcPr marL="54864" marR="54864" marT="27432" marB="27432">
                    <a:solidFill>
                      <a:srgbClr val="24405B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Madhav K (23BAI1088)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Stage C/D: statute identification, IPC→BNS, cognizability, IF-1 instantiation; integration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«…»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«slides / demo steps»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Nischay Kuchibotla (23BAI1245)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Stage A: ASR benchmark, guards, Tamil ITN, code-switch fine-tune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«…»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«…»</a:t>
                      </a:r>
                    </a:p>
                  </a:txBody>
                  <a:tcPr marL="54864" marR="54864" marT="27432" marB="27432">
                    <a:solidFill>
                      <a:srgbClr val="F5F7F9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Rohit A. S. (23BAI1416)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Stage B: extraction, synthetic data engine, NER seeding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«…»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A37"/>
                          </a:solidFill>
                          <a:latin typeface="Calibri"/>
                        </a:rPr>
                        <a:t>«…»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80560"/>
            <a:ext cx="109115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B6470"/>
                </a:solidFill>
                <a:latin typeface="Calibri"/>
              </a:rPr>
              <a:t>The repository records who did what: PROGRESS.md is the dated engineering log; every module has an owner in IMPLEMENTATION.md. Present the split as it actually happened — the rubric rewards demonstrated contribution, not the plan.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Plan to Review 4 (12–16 October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Complete implementation, final results, report verification — and proof of a publication submission (Review 4 parameter 9, 2 marks).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Weeks 1–2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Decide the local LLM on mains power (7B-Q4 vs 14B-Q4 offload) → synthetic Tamil complaint → IF-1 generator (PLAN §5.2)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IndicTrans2 (licence click) or NLLB-600M replaces opus-mt; re-measure Tamil statute-ID end to end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IndicWhisper / IndicConformer benchmark against the corrected Whisper numbers</a:t>
            </a:r>
          </a:p>
          <a:p>
            <a:pPr>
              <a:spcAft>
                <a:spcPts val="400"/>
              </a:spcAft>
            </a:pPr>
            <a:r>
              <a:rPr sz="1150" b="1">
                <a:solidFill>
                  <a:srgbClr val="24405B"/>
                </a:solidFill>
                <a:latin typeface="Calibri"/>
              </a:rPr>
              <a:t>Weeks 3–4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LLM element verifier reading BNS text (P3.3) behind the same ElementCheck schema; NER (MuRIL) for names / places / accused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Legal read-through of the Schedule CSV and the 29 flagged mapping rows with the guide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Self-recorded Tamil complaint gold set (P6.3), consent script from the DPDP memo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4892040" cy="36576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9525">
            <a:solidFill>
              <a:srgbClr val="C9D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2" y="1554480"/>
            <a:ext cx="4562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24405B"/>
                </a:solidFill>
                <a:latin typeface="Calibri"/>
              </a:rPr>
              <a:t>Publication plan «confirm venue with the guide»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4526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Paper 1 (ready to write from Chapter 4): “A sparse baseline beats a domain-pretrained encoder on Indian statute identification — and what the encoder is for instead” (ILSI, full-corpus results, element verification)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Paper 2 (after the gold set): “Officer-in-the-loop FIR drafting from spoken Tamil complaints: provenance, cognizability and the cost of translation”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1F2A37"/>
                </a:solidFill>
                <a:latin typeface="Calibri"/>
              </a:rPr>
              <a:t>–  Candidate venues: ICON 2026 (NLP in India), FIRE 2026 (legal track), or an IEEE/Springer conference with a Dec–Jan deadline — submission proof needed by 12 Oct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B6470"/>
                </a:solidFill>
                <a:latin typeface="Calibri"/>
              </a:rPr>
              <a:t>–  Artefacts already reusable: RESULTS.md tables, r3_*.png figures, reproducible harness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4405B"/>
                </a:solidFill>
                <a:latin typeface="Calibr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05840" cy="32004"/>
          </a:xfrm>
          <a:prstGeom prst="rect">
            <a:avLst/>
          </a:prstGeom>
          <a:solidFill>
            <a:srgbClr val="356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5B6470"/>
                </a:solidFill>
                <a:latin typeface="Calibri"/>
              </a:rPr>
              <a:t>Half the approved scope runs as working modules, in one graph, with the officer as author of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46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B6470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B6470"/>
                </a:solidFill>
                <a:latin typeface="Calibri"/>
              </a:rPr>
              <a:t>Speech-driven FIR drafting (TN IF-1) · BCSE497J Review 3 · 16 Sep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–  An end-to-end pipeline from spoken Tamil to a draft IF-1 exists and is tested; nothing in it can file anything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–  The research question was measured, not assumed: on ILSI a sparse baseline beats InLegalBERT (0.700 vs 0.526 micro-F1); the encoder's role is element verification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–  The legal tables the routing depends on now come from the gazette with page citations — and doing so caught four refusal-direction errors in the hand-coded version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–  ASR runs 4× faster with better WER and CER after one measured change; two real safety failures (translation loss, fabricated transcripts) each produced a guard that is pinned by a test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Calibri"/>
              </a:rPr>
              <a:t>–  Next: the local LLM decision unblocks synthetic data, the element verifier and the fine-tuning pass; publication draft from Chapter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1">
                <a:solidFill>
                  <a:srgbClr val="24405B"/>
                </a:solidFill>
                <a:latin typeface="Calibri"/>
              </a:rPr>
              <a:t>Questions — and the live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