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eerj.com/articles/cs-93/" TargetMode="External"/><Relationship Id="rId3" Type="http://schemas.openxmlformats.org/officeDocument/2006/relationships/hyperlink" Target="https://doi.org/10.1007/s10506-019-09255-y" TargetMode="External"/><Relationship Id="rId4" Type="http://schemas.openxmlformats.org/officeDocument/2006/relationships/hyperlink" Target="https://aclanthology.org/2020.acl-main.466" TargetMode="External"/><Relationship Id="rId5" Type="http://schemas.openxmlformats.org/officeDocument/2006/relationships/hyperlink" Target="https://arxiv.org/abs/2010.02559" TargetMode="External"/><Relationship Id="rId6" Type="http://schemas.openxmlformats.org/officeDocument/2006/relationships/hyperlink" Target="https://aclanthology.org/2022.acl-long.297" TargetMode="External"/><Relationship Id="rId7" Type="http://schemas.openxmlformats.org/officeDocument/2006/relationships/hyperlink" Target="https://aclanthology.org/D17-1289" TargetMode="External"/><Relationship Id="rId8" Type="http://schemas.openxmlformats.org/officeDocument/2006/relationships/hyperlink" Target="https://aclanthology.org/D18-1390" TargetMode="External"/><Relationship Id="rId9" Type="http://schemas.openxmlformats.org/officeDocument/2006/relationships/hyperlink" Target="https://arxiv.org/abs/1807.02478" TargetMode="External"/><Relationship Id="rId10" Type="http://schemas.openxmlformats.org/officeDocument/2006/relationships/hyperlink" Target="https://aclanthology.org/2021.acl-long.313" TargetMode="External"/><Relationship Id="rId11" Type="http://schemas.openxmlformats.org/officeDocument/2006/relationships/hyperlink" Target="https://arxiv.org/abs/2112.14731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209.06049" TargetMode="External"/><Relationship Id="rId3" Type="http://schemas.openxmlformats.org/officeDocument/2006/relationships/hyperlink" Target="https://arxiv.org/abs/2211.03442" TargetMode="External"/><Relationship Id="rId4" Type="http://schemas.openxmlformats.org/officeDocument/2006/relationships/hyperlink" Target="https://arxiv.org/abs/2308.11462" TargetMode="External"/><Relationship Id="rId5" Type="http://schemas.openxmlformats.org/officeDocument/2006/relationships/hyperlink" Target="https://arxiv.org/abs/1706.03762" TargetMode="External"/><Relationship Id="rId6" Type="http://schemas.openxmlformats.org/officeDocument/2006/relationships/hyperlink" Target="https://arxiv.org/abs/1810.04805" TargetMode="External"/><Relationship Id="rId7" Type="http://schemas.openxmlformats.org/officeDocument/2006/relationships/hyperlink" Target="https://arxiv.org/abs/2103.10730" TargetMode="External"/><Relationship Id="rId8" Type="http://schemas.openxmlformats.org/officeDocument/2006/relationships/hyperlink" Target="https://arxiv.org/abs/2212.04356" TargetMode="External"/><Relationship Id="rId9" Type="http://schemas.openxmlformats.org/officeDocument/2006/relationships/hyperlink" Target="https://arxiv.org/abs/2208.11761" TargetMode="External"/><Relationship Id="rId10" Type="http://schemas.openxmlformats.org/officeDocument/2006/relationships/hyperlink" Target="https://arxiv.org/abs/2005.11401" TargetMode="External"/><Relationship Id="rId11" Type="http://schemas.openxmlformats.org/officeDocument/2006/relationships/hyperlink" Target="https://arxiv.org/abs/2202.03629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637E"/>
                </a:solidFill>
                <a:latin typeface="Calibri"/>
              </a:rPr>
              <a:t>B.TECH PROJECT — I     |     REVIEW 2     |     VIT CHENNAI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286000"/>
            <a:ext cx="10424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4405B"/>
                </a:solidFill>
                <a:latin typeface="Calibri"/>
              </a:rPr>
              <a:t>Speech-Driven Drafting of First Information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4405B"/>
                </a:solidFill>
                <a:latin typeface="Calibri"/>
              </a:rPr>
              <a:t>Reports for the Tamil Nadu Police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B6470"/>
                </a:solidFill>
                <a:latin typeface="Calibri"/>
              </a:rPr>
              <a:t>An officer-in-the-loop system that turns a spoken complaint into a draft FIR with the applicable BNS sections.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617720"/>
            <a:ext cx="1463040" cy="27432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5637E"/>
                </a:solidFill>
                <a:latin typeface="Calibri"/>
              </a:rPr>
              <a:t>Team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23BAI1088   Madhav 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23BAI1245   Nischay Kuchibotla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23BAI1416   Rohit A.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489204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5637E"/>
                </a:solidFill>
                <a:latin typeface="Calibri"/>
              </a:rPr>
              <a:t>Guide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F2A37"/>
                </a:solidFill>
                <a:latin typeface="Calibri"/>
              </a:rPr>
              <a:t>Dr. Shivaranjani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7665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A First Information Report (FIR) is the document a police station records when it receives information about a cognizable offence. In Tamil Nadu it is entered on the standard CCTNS IF-1 form.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Complaints are usually spoken, mostly in Tamil and often mixed with English. Writing them into a correct FIR is manual and time-consuming, and choosing the right legal sections is error-prone.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Since 1 July 2024 the Bharatiya Nyaya Sanhita (BNS) 2023 has replaced the Indian Penal Code, so every FIR must now cite the new sections.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This project studies a system that listens to the complaint, drafts the IF-1 form, and suggests the applicable BNS sections. It is decision support: the officer reviews, edits and approves everything.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63040"/>
            <a:ext cx="3794760" cy="429768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4405B"/>
                </a:solidFill>
                <a:latin typeface="Calibri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4884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Tamil / English speech input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The fixed TN IF-1 form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BNS 2023 sections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Officer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97763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4405B"/>
                </a:solidFill>
                <a:latin typeface="Calibri"/>
              </a:rPr>
              <a:t>Out of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43484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Filing with CCTNS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Any automatic decision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Case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F2A37"/>
                </a:solidFill>
                <a:latin typeface="Calibri"/>
              </a:rPr>
              <a:t>Given a spoken Tamil / code-switched complaint, produce a review-ready draft FIR in the Tamil Nadu IF-1 format, with the applicable BNS sections and a reason for each, that the officer can inspect, edit and approve.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881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4405B"/>
                </a:solidFill>
                <a:latin typeface="Calibri"/>
              </a:rPr>
              <a:t>Bilingual and colloquial input. 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Tamil with frequent Tamil–English switching and informal phrasing.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4405B"/>
                </a:solidFill>
                <a:latin typeface="Calibri"/>
              </a:rPr>
              <a:t>A new legal code. 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BNS 2023 replaced the IPC; sections are renumbered and must be applied correctly.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4405B"/>
                </a:solidFill>
                <a:latin typeface="Calibri"/>
              </a:rPr>
              <a:t>Correct sections need reasoning. 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Choosing offences requires checking the ingredients of each offence, not keyword matching.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4405B"/>
                </a:solidFill>
                <a:latin typeface="Calibri"/>
              </a:rPr>
              <a:t>Accountability is essential.  </a:t>
            </a:r>
            <a:r>
              <a:rPr sz="1450" b="0" i="0">
                <a:solidFill>
                  <a:srgbClr val="1F2A37"/>
                </a:solidFill>
                <a:latin typeface="Calibri"/>
              </a:rPr>
              <a:t>Every field and section must be traceable and overridable by the officer.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5099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4405B"/>
                </a:solidFill>
                <a:latin typeface="Calibri"/>
              </a:rPr>
              <a:t>Goal:  balance accuracy and accountability — draft and justify, but leave the decision to the officer.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1.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Transcribe Tamil / code-switched complaint speech into clean text.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2.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Extract the IF-1 form fields, each with a link back to what was said.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3.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Identify the applicable BNS 2023 sections and give a reason for each.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4.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Decide cognizability and route to an FIR or a CSR advisory.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5.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Fill the fixed IF-1 form and compose a grounded narrative.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6.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Provide an officer review screen with edit, override and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6327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405B"/>
                </a:solidFill>
                <a:latin typeface="Calibri"/>
              </a:rPr>
              <a:t>Outcome:  a working prototype that drafts a BNS-ready Tamil Nadu FIR from a spoken complaint, for officer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74552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1325880"/>
                <a:gridCol w="1691640"/>
                <a:gridCol w="502920"/>
                <a:gridCol w="2514600"/>
                <a:gridCol w="245059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Journal / Venue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1. Predicting judicial decisions of the ECtHR: an NLP perspective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Aletras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PeerJ Computer Science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Early evidence that NLP can predict court outcomes from case text.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Small ECtHR set; surface n-grams, not legal reasoning.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2. Using machine learning to predict decisions of the ECtHR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Medvedeva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Artificial Intelligence and Law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Systematic ML study with realistic temporal evaluation.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Court-specific (ECtHR); little explainability.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3. How does NLP benefit the legal system: a summary of Legal AI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Zhong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ACL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Broad survey that frames the main legal-NLP tasks.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Survey only; China / IPC-era focus; no deployment.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4. LEGAL-BERT: the muppets straight out of law school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Chalkidis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Findings of EMNLP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Domain pre-training clearly improves legal NLP tasks.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EU / US law and English; not Indian criminal law.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5. LexGLUE: a benchmark for legal language understanding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Chalkidis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ACL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Standard multi-task benchmark for legal NLP.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English only; classification, not FIR drafting.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6. Learning to predict charges for criminal cases with legal basis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Luo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EMNLP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Attention links predicted charges to legal articles.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Chinese law; opaque; ignores cost of error.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7. Legal judgment prediction via topological learning (TopJudge)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Zhong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EMNLP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Models dependencies among charges, articles and terms.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Chinese; black-box; not statute identification.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8. CAIL2018: a large-scale legal dataset for judgment prediction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Xiao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arXiv preprint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Large benchmark that enabled legal-AI research.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Chinese law; labels only, no explanations.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9. ILDC for CJPE: Indian legal documents corpus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Malik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ACL-IJCNLP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Indian corpus that adds an explanation task.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Judgment text, not complaints; IPC-era labels.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10. LeSICiN: legal statute identification from Indian documents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Paul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AAAI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Graph model uses the citation network; Indian statutes.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IPC-labelled; formal facts; shallow explanation.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Literature Review (contd.)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74552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1325880"/>
                <a:gridCol w="1691640"/>
                <a:gridCol w="502920"/>
                <a:gridCol w="2514600"/>
                <a:gridCol w="245059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Journal / Venue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54864" marR="45720" marT="27432" marB="27432" anchor="t">
                    <a:solidFill>
                      <a:srgbClr val="24405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11. Pre-trained language models for the legal domain: Indian law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Paul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ICAIL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Indian legal-domain encoders (InLegalBERT) improve tasks.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Classification only; no BNS; no drafting.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12. Named entity recognition in Indian court judgments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Kalamkar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NLLP Workshop, EMNLP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14 legal entity types annotated on Indian judgments.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Judgment domain; not mapped to IF-1 fields.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13. LegalBench: measuring legal reasoning in LLMs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Guha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NeurIPS Datasets and Benchmarks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Probes genuine legal reasoning in large models.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English / US law; mixed results; no Indian law.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14. Attention is all you need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Vaswani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NeurIPS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Transformer architecture underlying modern NLP.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Generic; not legal or low-resource aware.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15. BERT: deep bidirectional transformers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Devlin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NAACL-HLT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Strong, transferable text encoder for many tasks.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English-centric; weak on code-switch and legal text.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16. MuRIL: multilingual representations for Indian languages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Khanuja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arXiv preprint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Strong Indian-language and transliteration encoder.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General domain; not legal or complaint text.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17. Robust speech recognition via weak supervision (Whisper)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Radford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ICML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Robust multilingual ASR that supports Tamil.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Weak on code-switching; no Indian normalisation.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18. IndicSUPERB: a speech benchmark for Indian languages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Javed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Proc. AAAI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Large labelled Tamil speech and benchmark suite.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Read speech; no complaint or police audio.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19. Retrieval-augmented generation for knowledge tasks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Lewis et al.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NeurIPS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Grounds generation in retrieved evidence.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General QA; not tuned for legal faithfulness.</a:t>
                      </a:r>
                    </a:p>
                  </a:txBody>
                  <a:tcPr marL="54864" marR="45720" marT="27432" marB="27432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20. Survey of hallucination in natural language generation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Ji et al.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ACM Computing Surveys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Catalogues hallucination and its mitigations.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1F2A37"/>
                          </a:solidFill>
                          <a:latin typeface="Calibri"/>
                        </a:rPr>
                        <a:t>Survey; not specific to legal documents.</a:t>
                      </a:r>
                    </a:p>
                  </a:txBody>
                  <a:tcPr marL="54864" marR="45720" marT="27432" marB="27432" anchor="t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Prediction, not explanation.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Most systems output a label or a charge; few justify each section at the level of statutory ingredients.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Wrong data setting.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Models are trained on written court judgments and IPC-era labels, not spoken bilingual complaints under BNS 2023.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Studied in isolation.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Speech recognition, extraction, statute identification and safe generation have not been combined for one workflow.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No FIR-drafting system.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There is no officer-in-the-loop tool that drafts a Tamil Nadu FIR, with justified sections, from a spoken complaint.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908792" cy="96012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8523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35637E"/>
                </a:solidFill>
                <a:latin typeface="Calibri"/>
              </a:rPr>
              <a:t>This work.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528523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An integrated, officer-in-the-loop pipeline that drafts the fixed IF-1 form and explains each BNS section, bridging IPC-era resources to BNS 2023.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666189" cy="12344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157474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Spoken
complaint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24557" y="2697480"/>
            <a:ext cx="146304" cy="219456"/>
          </a:xfrm>
          <a:prstGeom prst="rightArrow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89149" y="2194560"/>
            <a:ext cx="1666189" cy="12344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4869" y="2194560"/>
            <a:ext cx="157474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Speech
to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73626" y="2697480"/>
            <a:ext cx="146304" cy="219456"/>
          </a:xfrm>
          <a:prstGeom prst="rightArrow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8218" y="2194560"/>
            <a:ext cx="1666189" cy="12344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2194560"/>
            <a:ext cx="157474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Extract
details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22695" y="2697480"/>
            <a:ext cx="146304" cy="219456"/>
          </a:xfrm>
          <a:prstGeom prst="rightArrow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7" y="2194560"/>
            <a:ext cx="1666189" cy="12344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2194560"/>
            <a:ext cx="157474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Identify
sections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71764" y="2697480"/>
            <a:ext cx="146304" cy="219456"/>
          </a:xfrm>
          <a:prstGeom prst="rightArrow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36356" y="2194560"/>
            <a:ext cx="1666189" cy="12344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2076" y="2194560"/>
            <a:ext cx="157474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Draft
FIR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720834" y="2697480"/>
            <a:ext cx="146304" cy="219456"/>
          </a:xfrm>
          <a:prstGeom prst="rightArrow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85426" y="2194560"/>
            <a:ext cx="1666189" cy="123444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1146" y="2194560"/>
            <a:ext cx="1574749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Officer
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F2A37"/>
                </a:solidFill>
                <a:latin typeface="Calibri"/>
              </a:rPr>
              <a:t>The complaint is transcribed, the form fields are pulled out, the applicable sections are identified and justified, the fixed form is filled, and the officer reviews the draft.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24405B"/>
                </a:solidFill>
                <a:latin typeface="Calibri"/>
              </a:rPr>
              <a:t>The IF-1 form is fixed, so the form is filled deterministically. The effort is in understanding the complaint and choosing the correct sections.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41732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44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5361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Complainant / Officer  ·  Web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2430703" cy="10972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Speech-to-text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606040"/>
            <a:ext cx="2430703" cy="10972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3703" y="260604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Information
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06040"/>
            <a:ext cx="2430703" cy="10972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60604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Statute
identification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8031" y="2606040"/>
            <a:ext cx="2430703" cy="10972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3751" y="2606040"/>
            <a:ext cx="23392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405B"/>
                </a:solidFill>
                <a:latin typeface="Calibri"/>
              </a:rPr>
              <a:t>FIR draft
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51960"/>
            <a:ext cx="5212080" cy="100584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405B"/>
                </a:solidFill>
                <a:latin typeface="Calibri"/>
              </a:rPr>
              <a:t>Legal knowledge base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BNS / BNSS text, IF-1 schema, IPC→BNS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251960"/>
            <a:ext cx="5193792" cy="100584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405B"/>
                </a:solidFill>
                <a:latin typeface="Calibri"/>
              </a:rPr>
              <a:t>Records and audit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Draft FIRs, provenance and an immutable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1F2A37"/>
                </a:solidFill>
                <a:latin typeface="Calibri"/>
              </a:rPr>
              <a:t>Runs on-premise at the station and degrades gracefully when connectivity is lost. All processing stays local; the officer remains the author of record.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Statute Identification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From the complaint to justified BNS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583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400" b="1" i="0">
                <a:solidFill>
                  <a:srgbClr val="24405B"/>
                </a:solidFill>
                <a:latin typeface="Calibri"/>
              </a:rPr>
              <a:t>Identify offences.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Read the complaint and shortlist the offences it discloses.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400" b="1" i="0">
                <a:solidFill>
                  <a:srgbClr val="24405B"/>
                </a:solidFill>
                <a:latin typeface="Calibri"/>
              </a:rPr>
              <a:t>Map IPC to BNS.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Convert older Penal Code references to the correct BNS 2023 sections using a verified mapping.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400" b="1" i="0">
                <a:solidFill>
                  <a:srgbClr val="24405B"/>
                </a:solidFill>
                <a:latin typeface="Calibri"/>
              </a:rPr>
              <a:t>Check the ingredients.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For each section, check whether every element of the offence is present in the complaint.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400" b="1" i="0">
                <a:solidFill>
                  <a:srgbClr val="24405B"/>
                </a:solidFill>
                <a:latin typeface="Calibri"/>
              </a:rPr>
              <a:t>Decide cognizability.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Route cognizable matters to an FIR and non-cognizable ones to a CSR advisory.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554480"/>
            <a:ext cx="4069080" cy="420624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5637E"/>
                </a:solidFill>
                <a:latin typeface="Calibr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A dowry-death complaint maps 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8803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405B"/>
                </a:solidFill>
                <a:latin typeface="Calibri"/>
              </a:rPr>
              <a:t>BNS 80 · Dowry death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29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405B"/>
                </a:solidFill>
                <a:latin typeface="Calibri"/>
              </a:rPr>
              <a:t>BNS 85 · Cruelty by relatives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7763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405B"/>
                </a:solidFill>
                <a:latin typeface="Calibri"/>
              </a:rPr>
              <a:t>BNS 3(5) · Common intention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6177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470"/>
                </a:solidFill>
                <a:latin typeface="Calibri"/>
              </a:rPr>
              <a:t>Each section is shown with the part of the complaint that supports it, so the officer can verify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Feasibility and Work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Public datasets available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Runs on a single local machine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Open-source components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No special infrastructure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Aligned with the DPDP Act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Problem and scope defined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Literature reviewed (20 papers)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IF-1 form structure encoded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IPC-to-BNS mapping prepared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Datasets identified and checked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6304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Build the statute-identification baseline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Add the speech front-end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Generate training complaints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Assemble the review screen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1F2A37"/>
                </a:solidFill>
                <a:latin typeface="Calibri"/>
              </a:rPr>
              <a:t>Evaluate end to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B6470"/>
                </a:solidFill>
                <a:latin typeface="Calibri"/>
              </a:rPr>
              <a:t>Two-semester plan; the statute-identification module is the main focus of the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Conclusion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24405B"/>
                </a:solidFill>
                <a:latin typeface="Calibri"/>
              </a:rPr>
              <a:t>Contribution.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An officer-in-the-loop system that drafts a Tamil Nadu FIR and explains each BNS section from a spoken complaint.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24405B"/>
                </a:solidFill>
                <a:latin typeface="Calibri"/>
              </a:rPr>
              <a:t>Why it matters.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It reduces manual effort and inconsistency while keeping the officer in control and the process auditable.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500" b="1" i="0">
                <a:solidFill>
                  <a:srgbClr val="35637E"/>
                </a:solidFill>
                <a:latin typeface="Calibri"/>
              </a:rPr>
              <a:t>–  </a:t>
            </a:r>
            <a:r>
              <a:rPr sz="1500" b="1" i="0">
                <a:solidFill>
                  <a:srgbClr val="24405B"/>
                </a:solidFill>
                <a:latin typeface="Calibri"/>
              </a:rPr>
              <a:t>Status.  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Problem, literature, data and the IPC-to-BNS mapping are done; the statute module is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4405B"/>
                </a:solidFill>
                <a:latin typeface="Calibri"/>
              </a:rPr>
              <a:t>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2651760" cy="6400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405B"/>
                </a:solidFill>
                <a:latin typeface="Calibri"/>
              </a:rPr>
              <a:t>Real complaint recordings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800600"/>
            <a:ext cx="2651760" cy="6400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800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405B"/>
                </a:solidFill>
                <a:latin typeface="Calibri"/>
              </a:rPr>
              <a:t>More special 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800600"/>
            <a:ext cx="2651760" cy="6400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800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405B"/>
                </a:solidFill>
                <a:latin typeface="Calibri"/>
              </a:rPr>
              <a:t>Guided-interview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4800600"/>
            <a:ext cx="2651760" cy="640080"/>
          </a:xfrm>
          <a:prstGeom prst="roundRect">
            <a:avLst>
              <a:gd name="adj" fmla="val 5000"/>
            </a:avLst>
          </a:prstGeom>
          <a:solidFill>
            <a:srgbClr val="EEF1F4"/>
          </a:solidFill>
          <a:ln w="12700">
            <a:solidFill>
              <a:srgbClr val="D3D9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48006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4405B"/>
                </a:solidFill>
                <a:latin typeface="Calibri"/>
              </a:rPr>
              <a:t>On-device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08792" cy="640080"/>
          </a:xfrm>
          <a:prstGeom prst="roundRect">
            <a:avLst>
              <a:gd name="adj" fmla="val 5000"/>
            </a:avLst>
          </a:prstGeom>
          <a:solidFill>
            <a:srgbClr val="244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Drafting the form is the easy part; the value is in understanding the complaint and justifying the law, with the officer in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[1] Aletras, N. et al. (2016) 'Predicting judicial decisions of the ECtHR: an NLP perspective', PeerJ Computer Science.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2"/>
              </a:rPr>
              <a:t>https://peerj.com/articles/cs-93/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[2] Medvedeva, M. et al. (2020) 'Using machine learning to predict decisions of the ECtHR', Artificial Intelligence and Law.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3"/>
              </a:rPr>
              <a:t>https://doi.org/10.1007/s10506-019-09255-y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[3] Zhong, H. et al. (2020) 'How does NLP benefit the legal system: a summary of legal AI', Proc. ACL.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4"/>
              </a:rPr>
              <a:t>https://aclanthology.org/2020.acl-main.466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[4] Chalkidis, I. et al. (2020) 'LEGAL-BERT: the muppets straight out of law school', Findings of EMNLP.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5"/>
              </a:rPr>
              <a:t>https://arxiv.org/abs/2010.02559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[5] Chalkidis, I. et al. (2022) 'LexGLUE: a benchmark for legal language understanding', Proc. ACL.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6"/>
              </a:rPr>
              <a:t>https://aclanthology.org/2022.acl-long.297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[6] Luo, B. et al. (2017) 'Learning to predict charges for criminal cases with legal basis', Proc. EMNLP.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7"/>
              </a:rPr>
              <a:t>https://aclanthology.org/D17-1289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[7] Zhong, H. et al. (2018) 'Legal judgment prediction via topological learning', Proc. EMNLP.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8"/>
              </a:rPr>
              <a:t>https://aclanthology.org/D18-1390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[8] Xiao, C. et al. (2018) 'CAIL2018: a large-scale legal dataset for judgment prediction'.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9"/>
              </a:rPr>
              <a:t>https://arxiv.org/abs/1807.02478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[9] Malik, V. et al. (2021) 'ILDC for CJPE: Indian legal documents corpus', Proc. ACL-IJCNLP.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10"/>
              </a:rPr>
              <a:t>https://aclanthology.org/2021.acl-long.313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[10] Paul, S. et al. (2022) 'LeSICiN: legal statute identification from Indian documents', Proc. AAAI.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11"/>
              </a:rPr>
              <a:t>https://arxiv.org/abs/2112.14731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24405B"/>
                </a:solidFill>
                <a:latin typeface="Calibri"/>
              </a:rPr>
              <a:t>References (contd.)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270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[11] Paul, S. et al. (2023) 'Pre-trained language models for the legal domain: a case study on Indian law', Proc. ICAIL.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2"/>
              </a:rPr>
              <a:t>https://arxiv.org/abs/2209.06049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[12] Kalamkar, P. et al. (2022) 'Named entity recognition in Indian court judgments', NLLP Workshop, EMNLP.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3"/>
              </a:rPr>
              <a:t>https://arxiv.org/abs/2211.03442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[13] Guha, N. et al. (2023) 'LegalBench: measuring legal reasoning in LLMs', NeurIPS Datasets and Benchmarks.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4"/>
              </a:rPr>
              <a:t>https://arxiv.org/abs/2308.11462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[14] Vaswani, A. et al. (2017) 'Attention is all you need', NeurIPS.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5"/>
              </a:rPr>
              <a:t>https://arxiv.org/abs/1706.03762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[15] Devlin, J. et al. (2019) 'BERT: pre-training of deep bidirectional transformers', Proc. NAACL-HLT.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6"/>
              </a:rPr>
              <a:t>https://arxiv.org/abs/1810.04805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[16] Khanuja, S. et al. (2021) 'MuRIL: multilingual representations for Indian languages'.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7"/>
              </a:rPr>
              <a:t>https://arxiv.org/abs/2103.10730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[17] Radford, A. et al. (2023) 'Robust speech recognition via large-scale weak supervision', Proc. ICML.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8"/>
              </a:rPr>
              <a:t>https://arxiv.org/abs/2212.04356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[18] Javed, T. et al. (2023) 'IndicSUPERB: a speech benchmark for Indian languages', Proc. AAAI.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9"/>
              </a:rPr>
              <a:t>https://arxiv.org/abs/2208.11761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[19] Lewis, P. et al. (2020) 'Retrieval-augmented generation for knowledge-intensive NLP tasks', NeurIPS.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10"/>
              </a:rPr>
              <a:t>https://arxiv.org/abs/2005.11401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F2A37"/>
                </a:solidFill>
                <a:latin typeface="Calibri"/>
              </a:rPr>
              <a:t>[20] Ji, Z. et al. (2023) 'Survey of hallucination in natural language generation', ACM Computing Surveys.  </a:t>
            </a:r>
            <a:r>
              <a:rPr sz="1000" b="0" i="0">
                <a:solidFill>
                  <a:srgbClr val="35637E"/>
                </a:solidFill>
                <a:latin typeface="Calibri"/>
                <a:hlinkClick r:id="rId11"/>
              </a:rPr>
              <a:t>https://arxiv.org/abs/2202.03629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